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" id="{0a0d409c-29ac-5594-9a50-cf05807190fd}">
          <p14:sldIdLst>
            <p14:sldId id="256"/>
          </p14:sldIdLst>
        </p14:section>
        <p14:section name="Problem and design" id="{e489dc30-589a-9231-3f36-f32fd1460350}">
          <p14:sldIdLst>
            <p14:sldId id="257"/>
            <p14:sldId id="258"/>
            <p14:sldId id="259"/>
          </p14:sldIdLst>
        </p14:section>
        <p14:section name="Demo" id="{926a49d0-b81a-0f8a-7f1e-f0af70e0566c}">
          <p14:sldIdLst>
            <p14:sldId id="260"/>
            <p14:sldId id="261"/>
          </p14:sldIdLst>
        </p14:section>
        <p14:section name="Close" id="{0142bf4d-0640-d230-4596-2e88e88c6357}">
          <p14:sldIdLst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minutes: the problem, the agent at work, the result.
中文提示：三分鐘：問題、代理程式現場運作、成果。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Today a rep digs through spec sheets, asks product managers and writes the email. The agent does it in three minutes with consistent advice.
中文提示：說明現況痛點，再翻到下一頁看代理程式怎麼做。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agent never invents models or prices: it only uses the tier sheet we uploaded.
中文提示：代理程式只用我們上傳的分級表，不會亂報價。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you can use Word, you can build an agent: no code, just clear rules and good data.
中文提示：會用 Word 的人，就會做代理程式。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While the agent is thinking, describe the customer scenario. Never stay silent.
中文提示：AI 回答時用等待時間講客戶情境，不要沉默。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that the S3 tier exceeds the NT$40,000 budget and the agent explains the trade-off.
中文提示：指出 S3 超出預算，代理程式有說明取捨。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key line and offer to share the instructions and knowledge files.
中文提示：以金句收尾，並表示可分享指令與知識檔。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914400"/>
            <a:ext cx="1088136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spc="300" kern="0" dirty="0">
                <a:solidFill>
                  <a:schemeClr val="accent5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463040"/>
            <a:ext cx="1088136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3063240"/>
            <a:ext cx="1088136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rgbClr val="C9D6E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  <p:sp>
        <p:nvSpPr>
          <p:cNvPr id="5" name="Text 0"/>
          <p:cNvSpPr/>
          <p:nvPr/>
        </p:nvSpPr>
        <p:spPr>
          <a:xfrm>
            <a:off x="64008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2C4"/>
                </a:solidFill>
              </a:rPr>
              <a:t>Power On: Windows Means Business · Sydney · Oct 27–28, 2026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tx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Power On: Windows Means Business · Sydney · Oct 27–28,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9144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5"/>
                </a:solidFill>
              </a:rPr>
              <a:t>HANDS-ON LAB · DAY 1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463040"/>
            <a:ext cx="10881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Build Your Agent: Windows 11 Refresh Advisor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30632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200" dirty="0">
                <a:solidFill>
                  <a:srgbClr val="C9D6E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打造代理程式：Windows 11 換機顧問</a:t>
            </a:r>
            <a:endParaRPr lang="en-US" sz="2200" dirty="0"/>
          </a:p>
        </p:txBody>
      </p:sp>
      <p:sp>
        <p:nvSpPr>
          <p:cNvPr id="5" name="Key line card"/>
          <p:cNvSpPr/>
          <p:nvPr/>
        </p:nvSpPr>
        <p:spPr>
          <a:xfrm>
            <a:off x="640080" y="3931920"/>
            <a:ext cx="6766560" cy="1463040"/>
          </a:xfrm>
          <a:prstGeom prst="roundRect">
            <a:avLst>
              <a:gd name="adj" fmla="val 7500"/>
            </a:avLst>
          </a:prstGeom>
          <a:solidFill>
            <a:srgbClr val="24345A"/>
          </a:solidFill>
          <a:ln w="12700">
            <a:solidFill>
              <a:srgbClr val="24345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411480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3A8FF"/>
                </a:solidFill>
              </a:rPr>
              <a:t>KEY LINE  金句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389120"/>
            <a:ext cx="6217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“Agents don't replace salespeople. They make every salesperson perform like a senior one.”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C9D6E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「代理程式不取代業務，它讓每個業務都像資深業務。」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Every refresh proposal takes half a day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業務每做一份換機建議要半天</a:t>
            </a:r>
            <a:endParaRPr lang="en-US" sz="1600" dirty="0"/>
          </a:p>
        </p:txBody>
      </p:sp>
      <p:sp>
        <p:nvSpPr>
          <p:cNvPr id="4" name="Time callout"/>
          <p:cNvSpPr/>
          <p:nvPr/>
        </p:nvSpPr>
        <p:spPr>
          <a:xfrm>
            <a:off x="548640" y="1645920"/>
            <a:ext cx="4937760" cy="4206240"/>
          </a:xfrm>
          <a:prstGeom prst="roundRect">
            <a:avLst>
              <a:gd name="adj" fmla="val 2609"/>
            </a:avLst>
          </a:prstGeom>
          <a:solidFill>
            <a:srgbClr val="0D1B33"/>
          </a:solidFill>
          <a:ln w="12700">
            <a:solidFill>
              <a:srgbClr val="0D1B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28800"/>
            <a:ext cx="43891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A9B9D6"/>
                </a:solidFill>
              </a:rPr>
              <a:t>Half a day</a:t>
            </a:r>
            <a:endParaRPr lang="en-US" sz="4000" dirty="0"/>
          </a:p>
          <a:p>
            <a:pPr algn="ctr" indent="0" marL="0">
              <a:buNone/>
            </a:pPr>
            <a:r>
              <a:rPr lang="en-US" sz="3000" dirty="0">
                <a:solidFill>
                  <a:srgbClr val="5C9CFF"/>
                </a:solidFill>
              </a:rPr>
              <a:t>↓</a:t>
            </a:r>
            <a:endParaRPr lang="en-US" sz="4000" dirty="0"/>
          </a:p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3 minutes</a:t>
            </a:r>
            <a:endParaRPr lang="en-US" sz="40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9D6E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per proposal · 每份提案</a:t>
            </a:r>
            <a:endParaRPr lang="en-US" sz="4000" dirty="0"/>
          </a:p>
        </p:txBody>
      </p:sp>
      <p:sp>
        <p:nvSpPr>
          <p:cNvPr id="6" name="Digging through spec sheets"/>
          <p:cNvSpPr/>
          <p:nvPr/>
        </p:nvSpPr>
        <p:spPr>
          <a:xfrm>
            <a:off x="5943600" y="1737360"/>
            <a:ext cx="640080" cy="640080"/>
          </a:xfrm>
          <a:prstGeom prst="ellipse">
            <a:avLst/>
          </a:prstGeom>
          <a:solidFill>
            <a:srgbClr val="B45F06"/>
          </a:solidFill>
          <a:ln w="12700">
            <a:solidFill>
              <a:srgbClr val="B45F06"/>
            </a:solidFill>
            <a:prstDash val="solid"/>
          </a:ln>
        </p:spPr>
      </p:sp>
      <p:pic>
        <p:nvPicPr>
          <p:cNvPr id="7" name="Image 0" descr="Digging through spec shee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03620" y="1897380"/>
            <a:ext cx="320040" cy="3200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766560" y="169164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Digging through spec sheets</a:t>
            </a:r>
            <a:endParaRPr lang="en-US" sz="17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翻規格表</a:t>
            </a:r>
            <a:endParaRPr lang="en-US" sz="1700" dirty="0"/>
          </a:p>
        </p:txBody>
      </p:sp>
      <p:sp>
        <p:nvSpPr>
          <p:cNvPr id="9" name="Asking product managers"/>
          <p:cNvSpPr/>
          <p:nvPr/>
        </p:nvSpPr>
        <p:spPr>
          <a:xfrm>
            <a:off x="5943600" y="2761488"/>
            <a:ext cx="640080" cy="640080"/>
          </a:xfrm>
          <a:prstGeom prst="ellipse">
            <a:avLst/>
          </a:prstGeom>
          <a:solidFill>
            <a:srgbClr val="B45F06"/>
          </a:solidFill>
          <a:ln w="12700">
            <a:solidFill>
              <a:srgbClr val="B45F06"/>
            </a:solidFill>
            <a:prstDash val="solid"/>
          </a:ln>
        </p:spPr>
      </p:sp>
      <p:pic>
        <p:nvPicPr>
          <p:cNvPr id="10" name="Image 1" descr="Asking product manager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3620" y="2921508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766560" y="2715768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Asking product managers</a:t>
            </a:r>
            <a:endParaRPr lang="en-US" sz="17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問產品經理</a:t>
            </a:r>
            <a:endParaRPr lang="en-US" sz="1700" dirty="0"/>
          </a:p>
        </p:txBody>
      </p:sp>
      <p:sp>
        <p:nvSpPr>
          <p:cNvPr id="12" name="Writing every email from scratch"/>
          <p:cNvSpPr/>
          <p:nvPr/>
        </p:nvSpPr>
        <p:spPr>
          <a:xfrm>
            <a:off x="5943600" y="3785616"/>
            <a:ext cx="640080" cy="640080"/>
          </a:xfrm>
          <a:prstGeom prst="ellipse">
            <a:avLst/>
          </a:prstGeom>
          <a:solidFill>
            <a:srgbClr val="B45F06"/>
          </a:solidFill>
          <a:ln w="12700">
            <a:solidFill>
              <a:srgbClr val="B45F06"/>
            </a:solidFill>
            <a:prstDash val="solid"/>
          </a:ln>
        </p:spPr>
      </p:sp>
      <p:pic>
        <p:nvPicPr>
          <p:cNvPr id="13" name="Image 2" descr="Writing every email from scratch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3620" y="3945636"/>
            <a:ext cx="320040" cy="32004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766560" y="3739896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Writing every email from scratch</a:t>
            </a:r>
            <a:endParaRPr lang="en-US" sz="17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每封信從頭寫</a:t>
            </a:r>
            <a:endParaRPr lang="en-US" sz="1700" dirty="0"/>
          </a:p>
        </p:txBody>
      </p:sp>
      <p:sp>
        <p:nvSpPr>
          <p:cNvPr id="15" name="Advice differs from rep to rep"/>
          <p:cNvSpPr/>
          <p:nvPr/>
        </p:nvSpPr>
        <p:spPr>
          <a:xfrm>
            <a:off x="5943600" y="4809744"/>
            <a:ext cx="640080" cy="640080"/>
          </a:xfrm>
          <a:prstGeom prst="ellipse">
            <a:avLst/>
          </a:prstGeom>
          <a:solidFill>
            <a:srgbClr val="B45F06"/>
          </a:solidFill>
          <a:ln w="12700">
            <a:solidFill>
              <a:srgbClr val="B45F06"/>
            </a:solidFill>
            <a:prstDash val="solid"/>
          </a:ln>
        </p:spPr>
      </p:sp>
      <p:pic>
        <p:nvPicPr>
          <p:cNvPr id="16" name="Image 3" descr="Advice differs from rep to rep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3620" y="4969764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766560" y="4764024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Advice differs from rep to rep</a:t>
            </a:r>
            <a:endParaRPr lang="en-US" sz="17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每個業務的建議不一致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How the agent works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代理程式如何運作（五個步驟）</a:t>
            </a:r>
            <a:endParaRPr lang="en-US" sz="1600" dirty="0"/>
          </a:p>
        </p:txBody>
      </p:sp>
      <p:sp>
        <p:nvSpPr>
          <p:cNvPr id="4" name="Rep describes the customer"/>
          <p:cNvSpPr/>
          <p:nvPr/>
        </p:nvSpPr>
        <p:spPr>
          <a:xfrm>
            <a:off x="548640" y="1783080"/>
            <a:ext cx="2011680" cy="2514600"/>
          </a:xfrm>
          <a:prstGeom prst="roundRect">
            <a:avLst>
              <a:gd name="adj" fmla="val 4545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5" name="Rep describes the customer icon"/>
          <p:cNvSpPr/>
          <p:nvPr/>
        </p:nvSpPr>
        <p:spPr>
          <a:xfrm>
            <a:off x="777240" y="2011680"/>
            <a:ext cx="548640" cy="548640"/>
          </a:xfrm>
          <a:prstGeom prst="ellipse">
            <a:avLst/>
          </a:prstGeom>
          <a:solidFill>
            <a:srgbClr val="0A5BD3"/>
          </a:solidFill>
          <a:ln w="12700">
            <a:solidFill>
              <a:srgbClr val="0A5BD3"/>
            </a:solidFill>
            <a:prstDash val="solid"/>
          </a:ln>
        </p:spPr>
      </p:sp>
      <p:pic>
        <p:nvPicPr>
          <p:cNvPr id="6" name="Image 0" descr="Rep describes the customer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14884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697480"/>
            <a:ext cx="1554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Rep describes the customer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accent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業務輸入客戶狀況</a:t>
            </a:r>
            <a:endParaRPr lang="en-US" sz="1500" dirty="0"/>
          </a:p>
        </p:txBody>
      </p:sp>
      <p:sp>
        <p:nvSpPr>
          <p:cNvPr id="8" name="Arrow"/>
          <p:cNvSpPr/>
          <p:nvPr/>
        </p:nvSpPr>
        <p:spPr>
          <a:xfrm>
            <a:off x="2606040" y="2880360"/>
            <a:ext cx="164592" cy="365760"/>
          </a:xfrm>
          <a:prstGeom prst="chevron">
            <a:avLst/>
          </a:prstGeom>
          <a:solidFill>
            <a:srgbClr val="8A97AD"/>
          </a:solidFill>
          <a:ln w="12700">
            <a:solidFill>
              <a:srgbClr val="8A97AD"/>
            </a:solidFill>
            <a:prstDash val="solid"/>
          </a:ln>
        </p:spPr>
      </p:sp>
      <p:sp>
        <p:nvSpPr>
          <p:cNvPr id="9" name="Agent asks what's missing"/>
          <p:cNvSpPr/>
          <p:nvPr/>
        </p:nvSpPr>
        <p:spPr>
          <a:xfrm>
            <a:off x="2816352" y="1783080"/>
            <a:ext cx="2011680" cy="2514600"/>
          </a:xfrm>
          <a:prstGeom prst="roundRect">
            <a:avLst>
              <a:gd name="adj" fmla="val 4545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0" name="Agent asks what's missing icon"/>
          <p:cNvSpPr/>
          <p:nvPr/>
        </p:nvSpPr>
        <p:spPr>
          <a:xfrm>
            <a:off x="3044952" y="2011680"/>
            <a:ext cx="548640" cy="548640"/>
          </a:xfrm>
          <a:prstGeom prst="ellipse">
            <a:avLst/>
          </a:prstGeom>
          <a:solidFill>
            <a:srgbClr val="0A5BD3"/>
          </a:solidFill>
          <a:ln w="12700">
            <a:solidFill>
              <a:srgbClr val="0A5BD3"/>
            </a:solidFill>
            <a:prstDash val="solid"/>
          </a:ln>
        </p:spPr>
      </p:sp>
      <p:pic>
        <p:nvPicPr>
          <p:cNvPr id="11" name="Image 1" descr="Agent asks what's missing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2112" y="214884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044952" y="2697480"/>
            <a:ext cx="1554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Agent asks what's missing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accent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缺的資訊一次問完</a:t>
            </a:r>
            <a:endParaRPr lang="en-US" sz="1500" dirty="0"/>
          </a:p>
        </p:txBody>
      </p:sp>
      <p:sp>
        <p:nvSpPr>
          <p:cNvPr id="13" name="Arrow"/>
          <p:cNvSpPr/>
          <p:nvPr/>
        </p:nvSpPr>
        <p:spPr>
          <a:xfrm>
            <a:off x="4873752" y="2880360"/>
            <a:ext cx="164592" cy="365760"/>
          </a:xfrm>
          <a:prstGeom prst="chevron">
            <a:avLst/>
          </a:prstGeom>
          <a:solidFill>
            <a:srgbClr val="8A97AD"/>
          </a:solidFill>
          <a:ln w="12700">
            <a:solidFill>
              <a:srgbClr val="8A97AD"/>
            </a:solidFill>
            <a:prstDash val="solid"/>
          </a:ln>
        </p:spPr>
      </p:sp>
      <p:sp>
        <p:nvSpPr>
          <p:cNvPr id="14" name="Applies our tier rules"/>
          <p:cNvSpPr/>
          <p:nvPr/>
        </p:nvSpPr>
        <p:spPr>
          <a:xfrm>
            <a:off x="5084064" y="1783080"/>
            <a:ext cx="2011680" cy="2514600"/>
          </a:xfrm>
          <a:prstGeom prst="roundRect">
            <a:avLst>
              <a:gd name="adj" fmla="val 4545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5" name="Applies our tier rules icon"/>
          <p:cNvSpPr/>
          <p:nvPr/>
        </p:nvSpPr>
        <p:spPr>
          <a:xfrm>
            <a:off x="5312664" y="2011680"/>
            <a:ext cx="548640" cy="548640"/>
          </a:xfrm>
          <a:prstGeom prst="ellipse">
            <a:avLst/>
          </a:prstGeom>
          <a:solidFill>
            <a:srgbClr val="0A5BD3"/>
          </a:solidFill>
          <a:ln w="12700">
            <a:solidFill>
              <a:srgbClr val="0A5BD3"/>
            </a:solidFill>
            <a:prstDash val="solid"/>
          </a:ln>
        </p:spPr>
      </p:sp>
      <p:pic>
        <p:nvPicPr>
          <p:cNvPr id="16" name="Image 2" descr="Applies our tier rules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9824" y="214884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312664" y="2697480"/>
            <a:ext cx="1554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Applies our tier rules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accent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依知識檔分級配機</a:t>
            </a:r>
            <a:endParaRPr lang="en-US" sz="1500" dirty="0"/>
          </a:p>
        </p:txBody>
      </p:sp>
      <p:sp>
        <p:nvSpPr>
          <p:cNvPr id="18" name="Arrow"/>
          <p:cNvSpPr/>
          <p:nvPr/>
        </p:nvSpPr>
        <p:spPr>
          <a:xfrm>
            <a:off x="7141464" y="2880360"/>
            <a:ext cx="164592" cy="365760"/>
          </a:xfrm>
          <a:prstGeom prst="chevron">
            <a:avLst/>
          </a:prstGeom>
          <a:solidFill>
            <a:srgbClr val="8A97AD"/>
          </a:solidFill>
          <a:ln w="12700">
            <a:solidFill>
              <a:srgbClr val="8A97AD"/>
            </a:solidFill>
            <a:prstDash val="solid"/>
          </a:ln>
        </p:spPr>
      </p:sp>
      <p:sp>
        <p:nvSpPr>
          <p:cNvPr id="19" name="Table and three reasons"/>
          <p:cNvSpPr/>
          <p:nvPr/>
        </p:nvSpPr>
        <p:spPr>
          <a:xfrm>
            <a:off x="7351776" y="1783080"/>
            <a:ext cx="2011680" cy="2514600"/>
          </a:xfrm>
          <a:prstGeom prst="roundRect">
            <a:avLst>
              <a:gd name="adj" fmla="val 4545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20" name="Table and three reasons icon"/>
          <p:cNvSpPr/>
          <p:nvPr/>
        </p:nvSpPr>
        <p:spPr>
          <a:xfrm>
            <a:off x="7580376" y="2011680"/>
            <a:ext cx="548640" cy="548640"/>
          </a:xfrm>
          <a:prstGeom prst="ellipse">
            <a:avLst/>
          </a:prstGeom>
          <a:solidFill>
            <a:srgbClr val="0A5BD3"/>
          </a:solidFill>
          <a:ln w="12700">
            <a:solidFill>
              <a:srgbClr val="0A5BD3"/>
            </a:solidFill>
            <a:prstDash val="solid"/>
          </a:ln>
        </p:spPr>
      </p:sp>
      <p:pic>
        <p:nvPicPr>
          <p:cNvPr id="21" name="Image 3" descr="Table and three reasons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7536" y="214884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580376" y="2697480"/>
            <a:ext cx="1554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Table and three reasons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accent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建議表與換機理由</a:t>
            </a:r>
            <a:endParaRPr lang="en-US" sz="1500" dirty="0"/>
          </a:p>
        </p:txBody>
      </p:sp>
      <p:sp>
        <p:nvSpPr>
          <p:cNvPr id="23" name="Arrow"/>
          <p:cNvSpPr/>
          <p:nvPr/>
        </p:nvSpPr>
        <p:spPr>
          <a:xfrm>
            <a:off x="9409176" y="2880360"/>
            <a:ext cx="164592" cy="365760"/>
          </a:xfrm>
          <a:prstGeom prst="chevron">
            <a:avLst/>
          </a:prstGeom>
          <a:solidFill>
            <a:srgbClr val="8A97AD"/>
          </a:solidFill>
          <a:ln w="12700">
            <a:solidFill>
              <a:srgbClr val="8A97AD"/>
            </a:solidFill>
            <a:prstDash val="solid"/>
          </a:ln>
        </p:spPr>
      </p:sp>
      <p:sp>
        <p:nvSpPr>
          <p:cNvPr id="24" name="Proposal email"/>
          <p:cNvSpPr/>
          <p:nvPr/>
        </p:nvSpPr>
        <p:spPr>
          <a:xfrm>
            <a:off x="9619488" y="1783080"/>
            <a:ext cx="2011680" cy="2514600"/>
          </a:xfrm>
          <a:prstGeom prst="roundRect">
            <a:avLst>
              <a:gd name="adj" fmla="val 4545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25" name="Proposal email icon"/>
          <p:cNvSpPr/>
          <p:nvPr/>
        </p:nvSpPr>
        <p:spPr>
          <a:xfrm>
            <a:off x="9848088" y="2011680"/>
            <a:ext cx="548640" cy="548640"/>
          </a:xfrm>
          <a:prstGeom prst="ellipse">
            <a:avLst/>
          </a:prstGeom>
          <a:solidFill>
            <a:srgbClr val="16764A"/>
          </a:solidFill>
          <a:ln w="12700">
            <a:solidFill>
              <a:srgbClr val="16764A"/>
            </a:solidFill>
            <a:prstDash val="solid"/>
          </a:ln>
        </p:spPr>
      </p:sp>
      <p:pic>
        <p:nvPicPr>
          <p:cNvPr id="26" name="Image 4" descr="Proposal email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85248" y="2148840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9848088" y="2697480"/>
            <a:ext cx="1554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Proposal email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accent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提案 email</a:t>
            </a:r>
            <a:endParaRPr lang="en-US" sz="1500" dirty="0"/>
          </a:p>
        </p:txBody>
      </p:sp>
      <p:sp>
        <p:nvSpPr>
          <p:cNvPr id="28" name="Key line card"/>
          <p:cNvSpPr/>
          <p:nvPr/>
        </p:nvSpPr>
        <p:spPr>
          <a:xfrm>
            <a:off x="548640" y="4572000"/>
            <a:ext cx="11064240" cy="1463040"/>
          </a:xfrm>
          <a:prstGeom prst="roundRect">
            <a:avLst>
              <a:gd name="adj" fmla="val 7500"/>
            </a:avLst>
          </a:prstGeom>
          <a:solidFill>
            <a:srgbClr val="F1ECFB"/>
          </a:solidFill>
          <a:ln w="12700">
            <a:solidFill>
              <a:srgbClr val="F1ECFB"/>
            </a:solidFill>
            <a:prstDash val="solid"/>
          </a:ln>
        </p:spPr>
      </p:sp>
      <p:sp>
        <p:nvSpPr>
          <p:cNvPr id="29" name="Text 22"/>
          <p:cNvSpPr txBox="1"/>
          <p:nvPr/>
        </p:nvSpPr>
        <p:spPr>
          <a:xfrm>
            <a:off x="822960" y="47548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KEY LINE  金句</a:t>
            </a:r>
            <a:endParaRPr lang="en-US" sz="1100" dirty="0"/>
          </a:p>
        </p:txBody>
      </p:sp>
      <p:sp>
        <p:nvSpPr>
          <p:cNvPr id="30" name="Text 23"/>
          <p:cNvSpPr txBox="1"/>
          <p:nvPr/>
        </p:nvSpPr>
        <p:spPr>
          <a:xfrm>
            <a:off x="822960" y="502920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“Give it your data and your rules, and it gives you consistent answers.”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「給它你的資料、你的規則，它就給你一致的答案。」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What's inside the agent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代理程式的三個組成</a:t>
            </a:r>
            <a:endParaRPr lang="en-US" sz="1600" dirty="0"/>
          </a:p>
        </p:txBody>
      </p:sp>
      <p:sp>
        <p:nvSpPr>
          <p:cNvPr id="4" name="Instructions"/>
          <p:cNvSpPr/>
          <p:nvPr/>
        </p:nvSpPr>
        <p:spPr>
          <a:xfrm>
            <a:off x="548640" y="1645920"/>
            <a:ext cx="3566160" cy="2651760"/>
          </a:xfrm>
          <a:prstGeom prst="roundRect">
            <a:avLst>
              <a:gd name="adj" fmla="val 3448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5" name="Instructions icon"/>
          <p:cNvSpPr/>
          <p:nvPr/>
        </p:nvSpPr>
        <p:spPr>
          <a:xfrm>
            <a:off x="777240" y="1874520"/>
            <a:ext cx="548640" cy="548640"/>
          </a:xfrm>
          <a:prstGeom prst="ellipse">
            <a:avLst/>
          </a:prstGeom>
          <a:solidFill>
            <a:srgbClr val="0A5BD3"/>
          </a:solidFill>
          <a:ln w="12700">
            <a:solidFill>
              <a:srgbClr val="0A5BD3"/>
            </a:solidFill>
            <a:prstDash val="solid"/>
          </a:ln>
        </p:spPr>
      </p:sp>
      <p:pic>
        <p:nvPicPr>
          <p:cNvPr id="6" name="Image 0" descr="Instructions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01168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560320"/>
            <a:ext cx="3108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Instructions</a:t>
            </a:r>
            <a:endParaRPr lang="en-US" sz="17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Role, data rules, a six-step conversation flow, tone and format</a:t>
            </a:r>
            <a:endParaRPr lang="en-US" sz="17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accent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指令：工作守則與對話流程</a:t>
            </a:r>
            <a:endParaRPr lang="en-US" sz="1700" dirty="0"/>
          </a:p>
        </p:txBody>
      </p:sp>
      <p:sp>
        <p:nvSpPr>
          <p:cNvPr id="8" name="Knowledge"/>
          <p:cNvSpPr/>
          <p:nvPr/>
        </p:nvSpPr>
        <p:spPr>
          <a:xfrm>
            <a:off x="4297680" y="1645920"/>
            <a:ext cx="3566160" cy="2651760"/>
          </a:xfrm>
          <a:prstGeom prst="roundRect">
            <a:avLst>
              <a:gd name="adj" fmla="val 3448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9" name="Knowledge icon"/>
          <p:cNvSpPr/>
          <p:nvPr/>
        </p:nvSpPr>
        <p:spPr>
          <a:xfrm>
            <a:off x="4526280" y="1874520"/>
            <a:ext cx="548640" cy="548640"/>
          </a:xfrm>
          <a:prstGeom prst="ellipse">
            <a:avLst/>
          </a:prstGeom>
          <a:solidFill>
            <a:srgbClr val="6B42C4"/>
          </a:solidFill>
          <a:ln w="12700">
            <a:solidFill>
              <a:srgbClr val="6B42C4"/>
            </a:solidFill>
            <a:prstDash val="solid"/>
          </a:ln>
        </p:spPr>
      </p:sp>
      <p:pic>
        <p:nvPicPr>
          <p:cNvPr id="10" name="Image 1" descr="Knowledge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201168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526280" y="2560320"/>
            <a:ext cx="3108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Knowledge</a:t>
            </a:r>
            <a:endParaRPr lang="en-US" sz="17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Device tier sheet · Windows 10 refresh FAQ · talk tracks and email template</a:t>
            </a:r>
            <a:endParaRPr lang="en-US" sz="17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accent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知識：三份檔案</a:t>
            </a:r>
            <a:endParaRPr lang="en-US" sz="1700" dirty="0"/>
          </a:p>
        </p:txBody>
      </p:sp>
      <p:sp>
        <p:nvSpPr>
          <p:cNvPr id="12" name="Starter prompts"/>
          <p:cNvSpPr/>
          <p:nvPr/>
        </p:nvSpPr>
        <p:spPr>
          <a:xfrm>
            <a:off x="8046720" y="1645920"/>
            <a:ext cx="3566160" cy="2651760"/>
          </a:xfrm>
          <a:prstGeom prst="roundRect">
            <a:avLst>
              <a:gd name="adj" fmla="val 3448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3" name="Starter prompts icon"/>
          <p:cNvSpPr/>
          <p:nvPr/>
        </p:nvSpPr>
        <p:spPr>
          <a:xfrm>
            <a:off x="8275320" y="1874520"/>
            <a:ext cx="548640" cy="548640"/>
          </a:xfrm>
          <a:prstGeom prst="ellipse">
            <a:avLst/>
          </a:prstGeom>
          <a:solidFill>
            <a:srgbClr val="16764A"/>
          </a:solidFill>
          <a:ln w="12700">
            <a:solidFill>
              <a:srgbClr val="16764A"/>
            </a:solidFill>
            <a:prstDash val="solid"/>
          </a:ln>
        </p:spPr>
      </p:sp>
      <p:pic>
        <p:nvPicPr>
          <p:cNvPr id="14" name="Image 2" descr="Starter prompts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2011680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275320" y="2560320"/>
            <a:ext cx="3108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Starter prompts</a:t>
            </a:r>
            <a:endParaRPr lang="en-US" sz="17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Plan a refresh · Handle “it still works” · Write the email · Explain Copilot+ PC</a:t>
            </a:r>
            <a:endParaRPr lang="en-US" sz="17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accent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開場提示：一鍵送出</a:t>
            </a:r>
            <a:endParaRPr lang="en-US" sz="1700" dirty="0"/>
          </a:p>
        </p:txBody>
      </p:sp>
      <p:sp>
        <p:nvSpPr>
          <p:cNvPr id="16" name="Text 11"/>
          <p:cNvSpPr txBox="1"/>
          <p:nvPr/>
        </p:nvSpPr>
        <p:spPr>
          <a:xfrm>
            <a:off x="548640" y="45720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Built with Agent Builder in Microsoft 365 Copilot in about 30 minutes. Advanced: Copilot Studio topic + publish to Teams.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 Microsoft 365 Copilot 的 Agent Builder 約 30 分鐘完成；進階版用 Copilot Studio 並發布到 Teams。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Live demo: three minutes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現場展示：3 分鐘腳本</a:t>
            </a:r>
            <a:endParaRPr lang="en-US" sz="1600" dirty="0"/>
          </a:p>
        </p:txBody>
      </p:sp>
      <p:sp>
        <p:nvSpPr>
          <p:cNvPr id="4" name="Open with the pain"/>
          <p:cNvSpPr/>
          <p:nvPr/>
        </p:nvSpPr>
        <p:spPr>
          <a:xfrm>
            <a:off x="548640" y="1645920"/>
            <a:ext cx="3566160" cy="1371600"/>
          </a:xfrm>
          <a:prstGeom prst="roundRect">
            <a:avLst>
              <a:gd name="adj" fmla="val 6667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8288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0:00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783080" y="1810512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Open with the pain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Half a day per proposal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開場痛點</a:t>
            </a:r>
            <a:endParaRPr lang="en-US" sz="1600" dirty="0"/>
          </a:p>
        </p:txBody>
      </p:sp>
      <p:sp>
        <p:nvSpPr>
          <p:cNvPr id="7" name="Open the agent"/>
          <p:cNvSpPr/>
          <p:nvPr/>
        </p:nvSpPr>
        <p:spPr>
          <a:xfrm>
            <a:off x="4297680" y="1645920"/>
            <a:ext cx="3566160" cy="1371600"/>
          </a:xfrm>
          <a:prstGeom prst="roundRect">
            <a:avLst>
              <a:gd name="adj" fmla="val 6667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26280" y="18288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0:25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532120" y="1810512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Open the agent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It only uses our own data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開啟代理程式</a:t>
            </a:r>
            <a:endParaRPr lang="en-US" sz="1600" dirty="0"/>
          </a:p>
        </p:txBody>
      </p:sp>
      <p:sp>
        <p:nvSpPr>
          <p:cNvPr id="10" name="Plan a refresh"/>
          <p:cNvSpPr/>
          <p:nvPr/>
        </p:nvSpPr>
        <p:spPr>
          <a:xfrm>
            <a:off x="8046720" y="1645920"/>
            <a:ext cx="3566160" cy="1371600"/>
          </a:xfrm>
          <a:prstGeom prst="roundRect">
            <a:avLst>
              <a:gd name="adj" fmla="val 6667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75320" y="18288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0:45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9281160" y="1810512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Plan a refresh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25-person accounting firm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點規劃換機方案</a:t>
            </a:r>
            <a:endParaRPr lang="en-US" sz="1600" dirty="0"/>
          </a:p>
        </p:txBody>
      </p:sp>
      <p:sp>
        <p:nvSpPr>
          <p:cNvPr id="13" name="Walk the table"/>
          <p:cNvSpPr/>
          <p:nvPr/>
        </p:nvSpPr>
        <p:spPr>
          <a:xfrm>
            <a:off x="548640" y="3154680"/>
            <a:ext cx="3566160" cy="1371600"/>
          </a:xfrm>
          <a:prstGeom prst="roundRect">
            <a:avLst>
              <a:gd name="adj" fmla="val 6667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333756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1:20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1783080" y="3319272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Walk the table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S2 for accountants, total 18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說明建議表</a:t>
            </a:r>
            <a:endParaRPr lang="en-US" sz="1600" dirty="0"/>
          </a:p>
        </p:txBody>
      </p:sp>
      <p:sp>
        <p:nvSpPr>
          <p:cNvPr id="16" name="Write the email"/>
          <p:cNvSpPr/>
          <p:nvPr/>
        </p:nvSpPr>
        <p:spPr>
          <a:xfrm>
            <a:off x="4297680" y="3154680"/>
            <a:ext cx="3566160" cy="1371600"/>
          </a:xfrm>
          <a:prstGeom prst="roundRect">
            <a:avLst>
              <a:gd name="adj" fmla="val 6667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26280" y="333756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1:55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5532120" y="3319272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Write the email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Ready to send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產出提案信</a:t>
            </a:r>
            <a:endParaRPr lang="en-US" sz="1600" dirty="0"/>
          </a:p>
        </p:txBody>
      </p:sp>
      <p:sp>
        <p:nvSpPr>
          <p:cNvPr id="19" name="Land the result"/>
          <p:cNvSpPr/>
          <p:nvPr/>
        </p:nvSpPr>
        <p:spPr>
          <a:xfrm>
            <a:off x="8046720" y="3154680"/>
            <a:ext cx="3566160" cy="1371600"/>
          </a:xfrm>
          <a:prstGeom prst="roundRect">
            <a:avLst>
              <a:gd name="adj" fmla="val 6667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75320" y="333756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2:30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9281160" y="3319272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Land the result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3 minutes, consistent advice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收尾成果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4846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Finish at 2:50 with the key line.  2:50 用金句結尾。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Sample output: 18 PCs, tiered by role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範例輸出：18 台依職務分級（示範資料）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731520"/>
                <a:gridCol w="1371600"/>
                <a:gridCol w="3291840"/>
                <a:gridCol w="1645920"/>
                <a:gridCol w="164592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Role group 職務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PCs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Tier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Main reason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Unit price (NT$)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Subtotal (NT$)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1B33"/>
                          </a:solidFill>
                        </a:rPr>
                        <a:t>Accountants 會計人員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1B33"/>
                          </a:solidFill>
                        </a:rPr>
                        <a:t>11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1B33"/>
                          </a:solidFill>
                        </a:rPr>
                        <a:t>S2 Secure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1B33"/>
                          </a:solidFill>
                        </a:rPr>
                        <a:t>Client data, no IT, vPro remote repair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1B33"/>
                          </a:solidFill>
                        </a:rPr>
                        <a:t>35,000–40,000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1B33"/>
                          </a:solidFill>
                        </a:rPr>
                        <a:t>385,000–440,000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1B33"/>
                          </a:solidFill>
                        </a:rPr>
                        <a:t>Partners &amp; managers 主管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1B33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1B33"/>
                          </a:solidFill>
                        </a:rPr>
                        <a:t>S3 AI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1B33"/>
                          </a:solidFill>
                        </a:rPr>
                        <a:t>Travel, daily video calls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1B33"/>
                          </a:solidFill>
                        </a:rPr>
                        <a:t>45,000–55,000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1B33"/>
                          </a:solidFill>
                        </a:rPr>
                        <a:t>135,000–165,000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1B33"/>
                          </a:solidFill>
                        </a:rPr>
                        <a:t>Admin 行政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1B33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1B33"/>
                          </a:solidFill>
                        </a:rPr>
                        <a:t>S1 Essential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1B33"/>
                          </a:solidFill>
                        </a:rPr>
                        <a:t>Office work at a fixed desk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1B33"/>
                          </a:solidFill>
                        </a:rPr>
                        <a:t>28,000–32,000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1B33"/>
                          </a:solidFill>
                        </a:rPr>
                        <a:t>112,000–128,000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D1B33"/>
                          </a:solidFill>
                        </a:rPr>
                        <a:t>Total 總計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D1B33"/>
                          </a:solidFill>
                        </a:rPr>
                        <a:t>18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3B4A63"/>
                          </a:solidFill>
                        </a:rPr>
                        <a:t>Reference prices, subject to quote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D1B33"/>
                          </a:solidFill>
                        </a:rPr>
                        <a:t>632,000–733,000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Key line card"/>
          <p:cNvSpPr/>
          <p:nvPr/>
        </p:nvSpPr>
        <p:spPr>
          <a:xfrm>
            <a:off x="548640" y="4754880"/>
            <a:ext cx="11064240" cy="1325880"/>
          </a:xfrm>
          <a:prstGeom prst="roundRect">
            <a:avLst>
              <a:gd name="adj" fmla="val 8276"/>
            </a:avLst>
          </a:prstGeom>
          <a:solidFill>
            <a:srgbClr val="F1ECFB"/>
          </a:solidFill>
          <a:ln w="12700">
            <a:solidFill>
              <a:srgbClr val="F1ECF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49377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KEY LINE  金句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52120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“From half a day to three minutes. The time saved is one more customer visit.”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「從半天到三分鐘，省下的時間就是多拜訪一個客戶。」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9144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5"/>
                </a:solidFill>
              </a:rPr>
              <a:t>WHAT CHANGES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463040"/>
            <a:ext cx="10881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Every rep gives senior-level advice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30632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200" dirty="0">
                <a:solidFill>
                  <a:srgbClr val="C9D6E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每個業務都給出資深業務等級的建議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84048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5C9CFF"/>
                </a:solidFill>
              </a:rPr>
              <a:t>Faster</a:t>
            </a:r>
            <a:endParaRPr lang="en-US" sz="22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3 min per proposal</a:t>
            </a:r>
            <a:endParaRPr lang="en-US" sz="2200" dirty="0"/>
          </a:p>
          <a:p>
            <a:pPr indent="0" marL="0">
              <a:buNone/>
            </a:pPr>
            <a:r>
              <a:rPr lang="en-US" sz="1200" dirty="0">
                <a:solidFill>
                  <a:srgbClr val="C9D6E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更快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3017520" y="384048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5C9CFF"/>
                </a:solidFill>
              </a:rPr>
              <a:t>Consistent</a:t>
            </a:r>
            <a:endParaRPr lang="en-US" sz="22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Same rules for every rep</a:t>
            </a:r>
            <a:endParaRPr lang="en-US" sz="2200" dirty="0"/>
          </a:p>
          <a:p>
            <a:pPr indent="0" marL="0">
              <a:buNone/>
            </a:pPr>
            <a:r>
              <a:rPr lang="en-US" sz="1200" dirty="0">
                <a:solidFill>
                  <a:srgbClr val="C9D6E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更一致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394960" y="384048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5C9CFF"/>
                </a:solidFill>
              </a:rPr>
              <a:t>Easy</a:t>
            </a:r>
            <a:endParaRPr lang="en-US" sz="22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No code, built in 30 min</a:t>
            </a:r>
            <a:endParaRPr lang="en-US" sz="2200" dirty="0"/>
          </a:p>
          <a:p>
            <a:pPr indent="0" marL="0">
              <a:buNone/>
            </a:pPr>
            <a:r>
              <a:rPr lang="en-US" sz="1200" dirty="0">
                <a:solidFill>
                  <a:srgbClr val="C9D6E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更簡單</a:t>
            </a:r>
            <a:endParaRPr lang="en-US" sz="2200" dirty="0"/>
          </a:p>
        </p:txBody>
      </p:sp>
      <p:sp>
        <p:nvSpPr>
          <p:cNvPr id="8" name="Key line card"/>
          <p:cNvSpPr/>
          <p:nvPr/>
        </p:nvSpPr>
        <p:spPr>
          <a:xfrm>
            <a:off x="7406640" y="3611880"/>
            <a:ext cx="4206240" cy="2377440"/>
          </a:xfrm>
          <a:prstGeom prst="roundRect">
            <a:avLst>
              <a:gd name="adj" fmla="val 4615"/>
            </a:avLst>
          </a:prstGeom>
          <a:solidFill>
            <a:srgbClr val="24345A"/>
          </a:solidFill>
          <a:ln w="12700">
            <a:solidFill>
              <a:srgbClr val="24345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680960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3A8FF"/>
                </a:solidFill>
              </a:rPr>
              <a:t>KEY LINE  金句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680960" y="4069080"/>
            <a:ext cx="3657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“If you can use Word, you can build an agent.”</a:t>
            </a:r>
            <a:endParaRPr lang="en-US" sz="2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C9D6E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「會用 Word 的人，就會做代理程式。」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wer On Sydney">
  <a:themeElements>
    <a:clrScheme name="Power On Sydney">
      <a:dk1>
        <a:srgbClr val="0D1B33"/>
      </a:dk1>
      <a:lt1>
        <a:srgbClr val="FFFFFF"/>
      </a:lt1>
      <a:dk2>
        <a:srgbClr val="3B4A63"/>
      </a:dk2>
      <a:lt2>
        <a:srgbClr val="EEF3FA"/>
      </a:lt2>
      <a:accent1>
        <a:srgbClr val="0A5BD3"/>
      </a:accent1>
      <a:accent2>
        <a:srgbClr val="6B42C4"/>
      </a:accent2>
      <a:accent3>
        <a:srgbClr val="16764A"/>
      </a:accent3>
      <a:accent4>
        <a:srgbClr val="B45F06"/>
      </a:accent4>
      <a:accent5>
        <a:srgbClr val="5C9CFF"/>
      </a:accent5>
      <a:accent6>
        <a:srgbClr val="8A97AD"/>
      </a:accent6>
      <a:hlink>
        <a:srgbClr val="0A5BD3"/>
      </a:hlink>
      <a:folHlink>
        <a:srgbClr val="6B42C4"/>
      </a:folHlink>
    </a:clrScheme>
    <a:fontScheme name="Power On Sydney">
      <a:majorFont>
        <a:latin typeface="Segoe UI Semibol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 Your Agent: Windows 11 Refresh Advisor</dc:title>
  <dc:subject>PptxGenJS Presentation</dc:subject>
  <dc:creator>Weblink · Power On Sydney prep</dc:creator>
  <cp:lastModifiedBy>Weblink · Power On Sydney prep</cp:lastModifiedBy>
  <cp:revision>1</cp:revision>
  <dcterms:created xsi:type="dcterms:W3CDTF">2026-10-26T15:29:00Z</dcterms:created>
  <dcterms:modified xsi:type="dcterms:W3CDTF">2026-10-26T15:29:00Z</dcterms:modified>
</cp:coreProperties>
</file>