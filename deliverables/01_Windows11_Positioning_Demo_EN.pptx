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6de078cf-a493-de9b-4e23-e9e3f49382db}">
          <p14:sldIdLst>
            <p14:sldId id="256"/>
          </p14:sldIdLst>
        </p14:section>
        <p14:section name="Why now" id="{9f3d2ae6-5b0c-f331-d50c-a23ca9831780}">
          <p14:sldIdLst>
            <p14:sldId id="257"/>
            <p14:sldId id="258"/>
          </p14:sldIdLst>
        </p14:section>
        <p14:section name="Positioning" id="{d73e54a6-a48c-f287-2e0c-f0531a7863a6}">
          <p14:sldIdLst>
            <p14:sldId id="259"/>
            <p14:sldId id="260"/>
            <p14:sldId id="261"/>
            <p14:sldId id="262"/>
            <p14:sldId id="263"/>
          </p14:sldIdLst>
        </p14:section>
        <p14:section name="Demo" id="{dc67a1f6-ab78-8f9f-d93a-0c78e20b241c}">
          <p14:sldIdLst>
            <p14:sldId id="264"/>
          </p14:sldIdLst>
        </p14:section>
        <p14:section name="Offer" id="{6c931bc4-98b2-f447-1855-759842fa4560}">
          <p14:sldIdLst>
            <p14:sldId id="265"/>
            <p14:sldId id="266"/>
          </p14:sldIdLst>
        </p14:section>
        <p14:section name="Close" id="{efbfc1f1-92e4-07e2-3d13-79be8942a02f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33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D1B33"/>
                </a:solidFill>
                <a:latin typeface="+mn-lt"/>
              </a:rPr>
              <a:t>Avg. price per device, 18-PC deal (illustrative)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selling price (NT$)</c:v>
                </c:pt>
              </c:strCache>
            </c:strRef>
          </c:tx>
          <c:spPr>
            <a:solidFill>
              <a:srgbClr val="8A97A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D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97A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BD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Devices only</c:v>
                  </c:pt>
                  <c:pt idx="1">
                    <c:v>Role-based bundle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30000</c:v>
                </c:pt>
                <c:pt idx="1">
                  <c:v>38000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D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B4A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introduce the company first. Ask the room: how many Windows 10 PCs are still in your office? Ask for a show of hands so people see the problem themselves.
中文提示：開場不要先介紹公司，先請大家舉手：公司裡還有多少台 Windows 10？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 per box, under a minute in total. Lean on the first box: still working does not mean secure. The fourth box sets up the AI slide: personal AI accounts put client data outside company control.
中文提示：四格各一句，總共一分鐘內。重點在第一格；第四格帶出影子 AI 的資料風險。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Quoting what owners actually say lands better than statistics. Pause, then ask: which one sounds most like your company? Demo that part first.
中文提示：用老闆說過的話呈現痛點；講完停 3 秒，請客戶選一句，Demo 就先演那一段。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slide. The four pillars answer the three pains, and 'nothing new to learn' removes the mental cost of switching.
中文提示：整份簡報的核心：四個支柱對應三個痛點，「不必重新學」消除換機的心理成本。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IT, explain bottom-up: trust starts in the silicon. For owners, top-down: staff get AI, someone manages it automatically, protection is built in. One line for owners: every layer is looked after, and Microsoft and Intel designed it together.
中文提示：對 IT 由下往上講，對老闆由上往下講；一句話：「每一層都有人顧。」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companies without IT, explain vPro as: the technician doesn't need to come on site.
中文提示：用「電腦行不用到現場」說明 vPro 最好懂。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straight to the demo after this slide: rather than tell you, let me show you.
中文提示：這頁之後直接切 Demo：「與其講，不如直接看。」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table to decide which demo segment to stretch. Point at the row the customer picked.
中文提示：依客戶選的痛點，決定 Demo 哪一段多停留。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story is easier to remember than a feature tour. Keep a recording of Autopilot and vPro on the desktop as a backup if the network fails.
中文提示：包裝成一天的故事；Autopilot 與 vPro 準備錄影備案。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quote prices here. Say we configure by role; pricing comes in the next meeting.
中文提示：這頁不報價，報價留到下一次會議。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mix: 4 × S1, 11 × S2, 3 × S3 averages about NT$38,000 versus NT$30,000 for entry devices only, before services.
中文提示：示範組合：4 台 S1 + 11 台 S2 + 3 台 S3，平均約 NT$38,000；請換成實際報價。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one action only. Take out your calendar and book the assessment on the spot.
中文提示：結尾只給一個行動，現場拿出行事曆約時間。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/>
        </p:nvSpPr>
        <p:spPr>
          <a:xfrm>
            <a:off x="64008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A2C4"/>
                </a:solidFill>
              </a:rPr>
              <a:t>Power On: Windows Means Business · Sydney · Oct 27–28, 2026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Power On: Windows Means Business · Sydney · Oct 27–28,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image" Target="../media/image-11-3.png"/><Relationship Id="rId5" Type="http://schemas.openxmlformats.org/officeDocument/2006/relationships/image" Target="../media/image-11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POWER ON · WINDOWS MEANS BUSINESS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Make Every PC a Productivity Engine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讓每一台電腦都成為公司的生產力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B9D6"/>
                </a:solidFill>
              </a:rPr>
              <a:t>Windows 11 Pro  ×  Intel Core Ultra  ×  Intel vPro   |   SMB refresh proposal</a:t>
            </a:r>
            <a:endParaRPr lang="en-US" sz="1600" dirty="0"/>
          </a:p>
        </p:txBody>
      </p:sp>
      <p:sp>
        <p:nvSpPr>
          <p:cNvPr id="6" name="Key line card"/>
          <p:cNvSpPr/>
          <p:nvPr/>
        </p:nvSpPr>
        <p:spPr>
          <a:xfrm>
            <a:off x="640080" y="4434840"/>
            <a:ext cx="6766560" cy="1417320"/>
          </a:xfrm>
          <a:prstGeom prst="roundRect">
            <a:avLst>
              <a:gd name="adj" fmla="val 7742"/>
            </a:avLst>
          </a:prstGeom>
          <a:solidFill>
            <a:srgbClr val="24345A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461772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3A8FF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8920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“Today we're not talking specs. We're talking about your business.”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「今天不談規格，談你的生意。」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world of work has changed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工作的世界已經變了：為什麼是現在</a:t>
            </a:r>
            <a:endParaRPr lang="en-US" sz="1600" dirty="0"/>
          </a:p>
        </p:txBody>
      </p:sp>
      <p:sp>
        <p:nvSpPr>
          <p:cNvPr id="4" name="Windows 10 support ended"/>
          <p:cNvSpPr/>
          <p:nvPr/>
        </p:nvSpPr>
        <p:spPr>
          <a:xfrm>
            <a:off x="548640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Windows 10 support ended icon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6" name="Image 0" descr="Windows 10 support ende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Windows 10 support ended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No regular security updates since Oct 14, 2025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10 已停止支援</a:t>
            </a:r>
            <a:endParaRPr lang="en-US" sz="1700" dirty="0"/>
          </a:p>
        </p:txBody>
      </p:sp>
      <p:sp>
        <p:nvSpPr>
          <p:cNvPr id="8" name="Attackers target SMBs"/>
          <p:cNvSpPr/>
          <p:nvPr/>
        </p:nvSpPr>
        <p:spPr>
          <a:xfrm>
            <a:off x="4160520" y="1600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Attackers target SMBs icon"/>
          <p:cNvSpPr/>
          <p:nvPr/>
        </p:nvSpPr>
        <p:spPr>
          <a:xfrm>
            <a:off x="4389120" y="1828800"/>
            <a:ext cx="548640" cy="548640"/>
          </a:xfrm>
          <a:prstGeom prst="ellipse">
            <a:avLst/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pic>
        <p:nvPicPr>
          <p:cNvPr id="10" name="Image 1" descr="Attackers target SMB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659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89120" y="2514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Attackers target SMBs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Weaker defenses, equally valuable data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攻擊鎖定中小企業</a:t>
            </a:r>
            <a:endParaRPr lang="en-US" sz="1700" dirty="0"/>
          </a:p>
        </p:txBody>
      </p:sp>
      <p:sp>
        <p:nvSpPr>
          <p:cNvPr id="12" name="Work happens everywhere"/>
          <p:cNvSpPr/>
          <p:nvPr/>
        </p:nvSpPr>
        <p:spPr>
          <a:xfrm>
            <a:off x="54864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Work happens everywhere icon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14" name="Image 2" descr="Work happens everywher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77240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Work happens everywhere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Trains, cafés and client sites are the office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工作不在辦公室</a:t>
            </a:r>
            <a:endParaRPr lang="en-US" sz="1700" dirty="0"/>
          </a:p>
        </p:txBody>
      </p:sp>
      <p:sp>
        <p:nvSpPr>
          <p:cNvPr id="16" name="AI is already in daily work"/>
          <p:cNvSpPr/>
          <p:nvPr/>
        </p:nvSpPr>
        <p:spPr>
          <a:xfrm>
            <a:off x="4160520" y="388620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AI is already in daily work icon"/>
          <p:cNvSpPr/>
          <p:nvPr/>
        </p:nvSpPr>
        <p:spPr>
          <a:xfrm>
            <a:off x="4389120" y="4114800"/>
            <a:ext cx="548640" cy="54864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8" name="Image 3" descr="AI is already in daily wor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25196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389120" y="480060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AI is already in daily work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Staff use it, often with personal accounts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已進入日常工作</a:t>
            </a:r>
            <a:endParaRPr lang="en-US" sz="1700" dirty="0"/>
          </a:p>
        </p:txBody>
      </p:sp>
      <p:sp>
        <p:nvSpPr>
          <p:cNvPr id="20" name="Key line card"/>
          <p:cNvSpPr/>
          <p:nvPr/>
        </p:nvSpPr>
        <p:spPr>
          <a:xfrm>
            <a:off x="7909560" y="1600200"/>
            <a:ext cx="3703320" cy="4434840"/>
          </a:xfrm>
          <a:prstGeom prst="roundRect">
            <a:avLst>
              <a:gd name="adj" fmla="val 2963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183880" y="1783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183880" y="2057400"/>
            <a:ext cx="3154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PC that turns on isn't necessarily a secure PC.”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「能開機，不等於安全。」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business owners tell us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老闆最常跟我們說的三句話</a:t>
            </a:r>
            <a:endParaRPr lang="en-US" sz="1600" dirty="0"/>
          </a:p>
        </p:txBody>
      </p:sp>
      <p:sp>
        <p:nvSpPr>
          <p:cNvPr id="4" name="Security"/>
          <p:cNvSpPr/>
          <p:nvPr/>
        </p:nvSpPr>
        <p:spPr>
          <a:xfrm>
            <a:off x="548640" y="16916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ecurity icon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pic>
        <p:nvPicPr>
          <p:cNvPr id="6" name="Image 0" descr="Securit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Security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“What if a laptop with client data goes missing?”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電腦掉了怎麼辦？裡面有客戶資料。</a:t>
            </a:r>
            <a:endParaRPr lang="en-US" sz="1700" dirty="0"/>
          </a:p>
        </p:txBody>
      </p:sp>
      <p:sp>
        <p:nvSpPr>
          <p:cNvPr id="8" name="Management"/>
          <p:cNvSpPr/>
          <p:nvPr/>
        </p:nvSpPr>
        <p:spPr>
          <a:xfrm>
            <a:off x="4297680" y="16916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nagement icon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0" name="Image 1" descr="Managem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57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6060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Management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“When a PC breaks, we wait days for the repair shop.”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電腦壞了要等電腦行，一等就是一兩天。</a:t>
            </a:r>
            <a:endParaRPr lang="en-US" sz="1700" dirty="0"/>
          </a:p>
        </p:txBody>
      </p:sp>
      <p:sp>
        <p:nvSpPr>
          <p:cNvPr id="12" name="Productivity"/>
          <p:cNvSpPr/>
          <p:nvPr/>
        </p:nvSpPr>
        <p:spPr>
          <a:xfrm>
            <a:off x="8046720" y="1691640"/>
            <a:ext cx="3566160" cy="265176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Productivity icon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14" name="Image 2" descr="Productivit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57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2606040"/>
            <a:ext cx="3108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Productivity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chemeClr val="tx2"/>
                </a:solidFill>
              </a:rPr>
              <a:t>“My team spends hours on repetitive paperwork.”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同事每天都在做重複的整理工作。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4663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Security, management and productivity are three sides of one problem.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資安、管理、效率，是同一個問題的三個面向。問客戶：「哪一句最像你們公司？」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Windows 11 Pro: the work platform for SMBs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11 Pro：中小企業的工作平台（四大支柱）</a:t>
            </a:r>
            <a:endParaRPr lang="en-US" sz="1600" dirty="0"/>
          </a:p>
        </p:txBody>
      </p:sp>
      <p:sp>
        <p:nvSpPr>
          <p:cNvPr id="4" name="Secure out of the box"/>
          <p:cNvSpPr/>
          <p:nvPr/>
        </p:nvSpPr>
        <p:spPr>
          <a:xfrm>
            <a:off x="548640" y="16916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Secure out of the box icon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pic>
        <p:nvPicPr>
          <p:cNvPr id="6" name="Image 0" descr="Secure out of the box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Secure out of the box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Hardware root of trust, VBS, Credential Guard, Windows Hello, BitLocker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出廠即安全</a:t>
            </a:r>
            <a:endParaRPr lang="en-US" sz="1700" dirty="0"/>
          </a:p>
        </p:txBody>
      </p:sp>
      <p:sp>
        <p:nvSpPr>
          <p:cNvPr id="8" name="Managed from day one"/>
          <p:cNvSpPr/>
          <p:nvPr/>
        </p:nvSpPr>
        <p:spPr>
          <a:xfrm>
            <a:off x="3364992" y="16916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Managed from day one icon"/>
          <p:cNvSpPr/>
          <p:nvPr/>
        </p:nvSpPr>
        <p:spPr>
          <a:xfrm>
            <a:off x="3593592" y="192024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10" name="Image 1" descr="Managed from day o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0752" y="2057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93592" y="260604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Managed from day one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Autopilot, Intune, Windows Autopatch, Intel vPro remote management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開箱即管理</a:t>
            </a:r>
            <a:endParaRPr lang="en-US" sz="1700" dirty="0"/>
          </a:p>
        </p:txBody>
      </p:sp>
      <p:sp>
        <p:nvSpPr>
          <p:cNvPr id="12" name="AI built in"/>
          <p:cNvSpPr/>
          <p:nvPr/>
        </p:nvSpPr>
        <p:spPr>
          <a:xfrm>
            <a:off x="6181344" y="16916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AI built in icon"/>
          <p:cNvSpPr/>
          <p:nvPr/>
        </p:nvSpPr>
        <p:spPr>
          <a:xfrm>
            <a:off x="6409944" y="1920240"/>
            <a:ext cx="548640" cy="54864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4" name="Image 2" descr="AI built i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2057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409944" y="260604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AI built in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Copilot, Click to Do, Studio Effects, on-device AI on the NPU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內建 AI</a:t>
            </a:r>
            <a:endParaRPr lang="en-US" sz="1700" dirty="0"/>
          </a:p>
        </p:txBody>
      </p:sp>
      <p:sp>
        <p:nvSpPr>
          <p:cNvPr id="16" name="Nothing new to learn"/>
          <p:cNvSpPr/>
          <p:nvPr/>
        </p:nvSpPr>
        <p:spPr>
          <a:xfrm>
            <a:off x="8997696" y="169164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7" name="Nothing new to learn icon"/>
          <p:cNvSpPr/>
          <p:nvPr/>
        </p:nvSpPr>
        <p:spPr>
          <a:xfrm>
            <a:off x="9226296" y="1920240"/>
            <a:ext cx="548640" cy="548640"/>
          </a:xfrm>
          <a:prstGeom prst="ellipse">
            <a:avLst/>
          </a:prstGeom>
          <a:solidFill>
            <a:srgbClr val="B45F06"/>
          </a:solidFill>
          <a:ln w="12700">
            <a:solidFill>
              <a:srgbClr val="B45F06"/>
            </a:solidFill>
            <a:prstDash val="solid"/>
          </a:ln>
        </p:spPr>
      </p:sp>
      <p:pic>
        <p:nvPicPr>
          <p:cNvPr id="18" name="Image 3" descr="Nothing new to lear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3456" y="20574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226296" y="2606040"/>
            <a:ext cx="21945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Nothing new to learn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Same apps, peripherals and habits; data moves over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不必重新學</a:t>
            </a:r>
            <a:endParaRPr lang="en-US" sz="1700" dirty="0"/>
          </a:p>
        </p:txBody>
      </p:sp>
      <p:sp>
        <p:nvSpPr>
          <p:cNvPr id="20" name="Key line card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035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“Windows 11 isn't a new operating system. It's a new way of working.”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「Windows 11 不是新的作業系統，是新的工作方式。」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Protected and managed, from chip to cloud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從晶片到雲端，一套完整的保護與管理（解決方案架構）</a:t>
            </a:r>
            <a:endParaRPr lang="en-US" sz="1600" dirty="0"/>
          </a:p>
        </p:txBody>
      </p:sp>
      <p:sp>
        <p:nvSpPr>
          <p:cNvPr id="4" name="AI &amp; productivity layer"/>
          <p:cNvSpPr/>
          <p:nvPr/>
        </p:nvSpPr>
        <p:spPr>
          <a:xfrm>
            <a:off x="1234440" y="1600200"/>
            <a:ext cx="10378440" cy="987552"/>
          </a:xfrm>
          <a:prstGeom prst="roundRect">
            <a:avLst>
              <a:gd name="adj" fmla="val 7407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1600200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42C4"/>
                </a:solidFill>
              </a:rPr>
              <a:t>AI &amp; productivity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員工看得到的價值</a:t>
            </a:r>
            <a:endParaRPr lang="en-US" sz="1500" dirty="0"/>
          </a:p>
        </p:txBody>
      </p:sp>
      <p:sp>
        <p:nvSpPr>
          <p:cNvPr id="6" name="Microsoft 365 Copilot · agents"/>
          <p:cNvSpPr/>
          <p:nvPr/>
        </p:nvSpPr>
        <p:spPr>
          <a:xfrm>
            <a:off x="3611880" y="17647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611880" y="1764792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Microsoft 365 Copilot · agents</a:t>
            </a:r>
            <a:endParaRPr lang="en-US" sz="1200" dirty="0"/>
          </a:p>
        </p:txBody>
      </p:sp>
      <p:sp>
        <p:nvSpPr>
          <p:cNvPr id="8" name="Copilot on Windows"/>
          <p:cNvSpPr/>
          <p:nvPr/>
        </p:nvSpPr>
        <p:spPr>
          <a:xfrm>
            <a:off x="5596128" y="17647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596128" y="1764792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Copilot on Windows</a:t>
            </a:r>
            <a:endParaRPr lang="en-US" sz="1200" dirty="0"/>
          </a:p>
        </p:txBody>
      </p:sp>
      <p:sp>
        <p:nvSpPr>
          <p:cNvPr id="10" name="Studio Effects · live captions"/>
          <p:cNvSpPr/>
          <p:nvPr/>
        </p:nvSpPr>
        <p:spPr>
          <a:xfrm>
            <a:off x="7580376" y="17647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0376" y="1764792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Studio Effects · live captions</a:t>
            </a:r>
            <a:endParaRPr lang="en-US" sz="1200" dirty="0"/>
          </a:p>
        </p:txBody>
      </p:sp>
      <p:sp>
        <p:nvSpPr>
          <p:cNvPr id="12" name="On-device AI · NPU"/>
          <p:cNvSpPr/>
          <p:nvPr/>
        </p:nvSpPr>
        <p:spPr>
          <a:xfrm>
            <a:off x="9564624" y="1764792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64624" y="1764792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On-device AI · NPU</a:t>
            </a:r>
            <a:endParaRPr lang="en-US" sz="1200" dirty="0"/>
          </a:p>
        </p:txBody>
      </p:sp>
      <p:sp>
        <p:nvSpPr>
          <p:cNvPr id="14" name="Management layer"/>
          <p:cNvSpPr/>
          <p:nvPr/>
        </p:nvSpPr>
        <p:spPr>
          <a:xfrm>
            <a:off x="1234440" y="2715768"/>
            <a:ext cx="10378440" cy="987552"/>
          </a:xfrm>
          <a:prstGeom prst="roundRect">
            <a:avLst>
              <a:gd name="adj" fmla="val 7407"/>
            </a:avLst>
          </a:prstGeom>
          <a:solidFill>
            <a:srgbClr val="E2ECFC"/>
          </a:solidFill>
          <a:ln w="12700">
            <a:solidFill>
              <a:srgbClr val="E2ECF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17320" y="2715768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5BD3"/>
                </a:solidFill>
              </a:rPr>
              <a:t>Management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或經銷商看得到</a:t>
            </a:r>
            <a:endParaRPr lang="en-US" sz="1500" dirty="0"/>
          </a:p>
        </p:txBody>
      </p:sp>
      <p:sp>
        <p:nvSpPr>
          <p:cNvPr id="16" name="Windows Autopilot"/>
          <p:cNvSpPr/>
          <p:nvPr/>
        </p:nvSpPr>
        <p:spPr>
          <a:xfrm>
            <a:off x="3611880" y="28803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2880360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Windows Autopilot</a:t>
            </a:r>
            <a:endParaRPr lang="en-US" sz="1200" dirty="0"/>
          </a:p>
        </p:txBody>
      </p:sp>
      <p:sp>
        <p:nvSpPr>
          <p:cNvPr id="18" name="Microsoft Intune"/>
          <p:cNvSpPr/>
          <p:nvPr/>
        </p:nvSpPr>
        <p:spPr>
          <a:xfrm>
            <a:off x="5596128" y="28803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596128" y="2880360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Microsoft Intune</a:t>
            </a:r>
            <a:endParaRPr lang="en-US" sz="1200" dirty="0"/>
          </a:p>
        </p:txBody>
      </p:sp>
      <p:sp>
        <p:nvSpPr>
          <p:cNvPr id="20" name="Windows Autopatch"/>
          <p:cNvSpPr/>
          <p:nvPr/>
        </p:nvSpPr>
        <p:spPr>
          <a:xfrm>
            <a:off x="7580376" y="28803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80376" y="2880360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Windows Autopatch</a:t>
            </a:r>
            <a:endParaRPr lang="en-US" sz="1200" dirty="0"/>
          </a:p>
        </p:txBody>
      </p:sp>
      <p:sp>
        <p:nvSpPr>
          <p:cNvPr id="22" name="Intel vPro remote (AMT)"/>
          <p:cNvSpPr/>
          <p:nvPr/>
        </p:nvSpPr>
        <p:spPr>
          <a:xfrm>
            <a:off x="9564624" y="2880360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64624" y="2880360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Intel vPro remote (AMT)</a:t>
            </a:r>
            <a:endParaRPr lang="en-US" sz="1200" dirty="0"/>
          </a:p>
        </p:txBody>
      </p:sp>
      <p:sp>
        <p:nvSpPr>
          <p:cNvPr id="24" name="Windows 11 Pro layer"/>
          <p:cNvSpPr/>
          <p:nvPr/>
        </p:nvSpPr>
        <p:spPr>
          <a:xfrm>
            <a:off x="1234440" y="3831336"/>
            <a:ext cx="10378440" cy="987552"/>
          </a:xfrm>
          <a:prstGeom prst="roundRect">
            <a:avLst>
              <a:gd name="adj" fmla="val 740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3831336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4A63"/>
                </a:solidFill>
              </a:rPr>
              <a:t>Windows 11 Pro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作業系統</a:t>
            </a:r>
            <a:endParaRPr lang="en-US" sz="1500" dirty="0"/>
          </a:p>
        </p:txBody>
      </p:sp>
      <p:sp>
        <p:nvSpPr>
          <p:cNvPr id="26" name="Windows Hello"/>
          <p:cNvSpPr/>
          <p:nvPr/>
        </p:nvSpPr>
        <p:spPr>
          <a:xfrm>
            <a:off x="3611880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11880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Windows Hello</a:t>
            </a:r>
            <a:endParaRPr lang="en-US" sz="1200" dirty="0"/>
          </a:p>
        </p:txBody>
      </p:sp>
      <p:sp>
        <p:nvSpPr>
          <p:cNvPr id="28" name="BitLocker"/>
          <p:cNvSpPr/>
          <p:nvPr/>
        </p:nvSpPr>
        <p:spPr>
          <a:xfrm>
            <a:off x="5596128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596128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BitLocker</a:t>
            </a:r>
            <a:endParaRPr lang="en-US" sz="1200" dirty="0"/>
          </a:p>
        </p:txBody>
      </p:sp>
      <p:sp>
        <p:nvSpPr>
          <p:cNvPr id="30" name="VBS · Credential Guard"/>
          <p:cNvSpPr/>
          <p:nvPr/>
        </p:nvSpPr>
        <p:spPr>
          <a:xfrm>
            <a:off x="7580376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0376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VBS · Credential Guard</a:t>
            </a:r>
            <a:endParaRPr lang="en-US" sz="1200" dirty="0"/>
          </a:p>
        </p:txBody>
      </p:sp>
      <p:sp>
        <p:nvSpPr>
          <p:cNvPr id="32" name="Smart App Control"/>
          <p:cNvSpPr/>
          <p:nvPr/>
        </p:nvSpPr>
        <p:spPr>
          <a:xfrm>
            <a:off x="9564624" y="3995928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564624" y="3995928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Smart App Control</a:t>
            </a:r>
            <a:endParaRPr lang="en-US" sz="1200" dirty="0"/>
          </a:p>
        </p:txBody>
      </p:sp>
      <p:sp>
        <p:nvSpPr>
          <p:cNvPr id="34" name="Device &amp; silicon layer"/>
          <p:cNvSpPr/>
          <p:nvPr/>
        </p:nvSpPr>
        <p:spPr>
          <a:xfrm>
            <a:off x="1234440" y="4946904"/>
            <a:ext cx="10378440" cy="987552"/>
          </a:xfrm>
          <a:prstGeom prst="roundRect">
            <a:avLst>
              <a:gd name="adj" fmla="val 7407"/>
            </a:avLst>
          </a:prstGeom>
          <a:solidFill>
            <a:srgbClr val="E6EAF0"/>
          </a:solidFill>
          <a:ln w="12700">
            <a:solidFill>
              <a:srgbClr val="E6EA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417320" y="4946904"/>
            <a:ext cx="21031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33"/>
                </a:solidFill>
              </a:rPr>
              <a:t>Device &amp; silicon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信任從這裡開始</a:t>
            </a:r>
            <a:endParaRPr lang="en-US" sz="1500" dirty="0"/>
          </a:p>
        </p:txBody>
      </p:sp>
      <p:sp>
        <p:nvSpPr>
          <p:cNvPr id="36" name="Intel Core Ultra (CPU · GPU · NPU)"/>
          <p:cNvSpPr/>
          <p:nvPr/>
        </p:nvSpPr>
        <p:spPr>
          <a:xfrm>
            <a:off x="3611880" y="5111496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611880" y="5111496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Intel Core Ultra (CPU · GPU · NPU)</a:t>
            </a:r>
            <a:endParaRPr lang="en-US" sz="1200" dirty="0"/>
          </a:p>
        </p:txBody>
      </p:sp>
      <p:sp>
        <p:nvSpPr>
          <p:cNvPr id="38" name="Intel vPro · Hardware Shield"/>
          <p:cNvSpPr/>
          <p:nvPr/>
        </p:nvSpPr>
        <p:spPr>
          <a:xfrm>
            <a:off x="5596128" y="5111496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96128" y="5111496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Intel vPro · Hardware Shield</a:t>
            </a:r>
            <a:endParaRPr lang="en-US" sz="1200" dirty="0"/>
          </a:p>
        </p:txBody>
      </p:sp>
      <p:sp>
        <p:nvSpPr>
          <p:cNvPr id="40" name="TPM 2.0"/>
          <p:cNvSpPr/>
          <p:nvPr/>
        </p:nvSpPr>
        <p:spPr>
          <a:xfrm>
            <a:off x="7580376" y="5111496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0376" y="5111496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TPM 2.0</a:t>
            </a:r>
            <a:endParaRPr lang="en-US" sz="1200" dirty="0"/>
          </a:p>
        </p:txBody>
      </p:sp>
      <p:sp>
        <p:nvSpPr>
          <p:cNvPr id="42" name="Secured firmware"/>
          <p:cNvSpPr/>
          <p:nvPr/>
        </p:nvSpPr>
        <p:spPr>
          <a:xfrm>
            <a:off x="9564624" y="5111496"/>
            <a:ext cx="187452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DF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564624" y="5111496"/>
            <a:ext cx="187452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Secured firmware</a:t>
            </a:r>
            <a:endParaRPr lang="en-US" sz="1200" dirty="0"/>
          </a:p>
        </p:txBody>
      </p:sp>
      <p:sp>
        <p:nvSpPr>
          <p:cNvPr id="44" name="Trust arrow"/>
          <p:cNvSpPr/>
          <p:nvPr/>
        </p:nvSpPr>
        <p:spPr>
          <a:xfrm>
            <a:off x="868680" y="1691640"/>
            <a:ext cx="0" cy="4251960"/>
          </a:xfrm>
          <a:prstGeom prst="line">
            <a:avLst/>
          </a:prstGeom>
          <a:noFill/>
          <a:ln w="25400">
            <a:solidFill>
              <a:srgbClr val="8A97AD"/>
            </a:solidFill>
            <a:prstDash val="solid"/>
            <a:headEnd type="triangle"/>
          </a:ln>
        </p:spPr>
      </p:sp>
      <p:sp>
        <p:nvSpPr>
          <p:cNvPr id="45" name="Text 43"/>
          <p:cNvSpPr txBox="1"/>
          <p:nvPr/>
        </p:nvSpPr>
        <p:spPr>
          <a:xfrm>
            <a:off x="411480" y="5989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TRUST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Intel vPro?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為什麼是 Intel vPro：沒有 IT 的公司最有感</a:t>
            </a:r>
            <a:endParaRPr lang="en-US" sz="1600" dirty="0"/>
          </a:p>
        </p:txBody>
      </p:sp>
      <p:sp>
        <p:nvSpPr>
          <p:cNvPr id="4" name="Remote management"/>
          <p:cNvSpPr/>
          <p:nvPr/>
        </p:nvSpPr>
        <p:spPr>
          <a:xfrm>
            <a:off x="548640" y="1645920"/>
            <a:ext cx="685800" cy="68580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5" name="Image 0" descr="Remote man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81737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00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Remote management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遠端管理：系統當機也能遠端修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Power on and repair remotely, even when Windows won't boot</a:t>
            </a:r>
            <a:endParaRPr lang="en-US" sz="1700" dirty="0"/>
          </a:p>
        </p:txBody>
      </p:sp>
      <p:sp>
        <p:nvSpPr>
          <p:cNvPr id="7" name="Below-the-OS protection"/>
          <p:cNvSpPr/>
          <p:nvPr/>
        </p:nvSpPr>
        <p:spPr>
          <a:xfrm>
            <a:off x="548640" y="2670048"/>
            <a:ext cx="685800" cy="68580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8" name="Image 1" descr="Below-the-OS protec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" y="2841498"/>
            <a:ext cx="342900" cy="3429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63040" y="2624328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Below-the-OS protection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作業系統底下的防護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Intel Hardware Shield guards firmware and BIOS</a:t>
            </a:r>
            <a:endParaRPr lang="en-US" sz="1700" dirty="0"/>
          </a:p>
        </p:txBody>
      </p:sp>
      <p:sp>
        <p:nvSpPr>
          <p:cNvPr id="10" name="NPU for on-device AI"/>
          <p:cNvSpPr/>
          <p:nvPr/>
        </p:nvSpPr>
        <p:spPr>
          <a:xfrm>
            <a:off x="548640" y="3694176"/>
            <a:ext cx="685800" cy="68580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11" name="Image 2" descr="NPU for on-device A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3865626"/>
            <a:ext cx="342900" cy="3429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63040" y="3648456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NPU for on-device AI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NPU 裝置端 AI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AI effects run faster and use less power</a:t>
            </a:r>
            <a:endParaRPr lang="en-US" sz="1700" dirty="0"/>
          </a:p>
        </p:txBody>
      </p:sp>
      <p:sp>
        <p:nvSpPr>
          <p:cNvPr id="13" name="Built for business"/>
          <p:cNvSpPr/>
          <p:nvPr/>
        </p:nvSpPr>
        <p:spPr>
          <a:xfrm>
            <a:off x="548640" y="4718304"/>
            <a:ext cx="685800" cy="68580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14" name="Image 3" descr="Built for busines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4889754"/>
            <a:ext cx="342900" cy="3429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63040" y="4672584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Built for business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為企業長期使用設計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stable platform for long-term fleet use</a:t>
            </a:r>
            <a:endParaRPr lang="en-US" sz="1700" dirty="0"/>
          </a:p>
        </p:txBody>
      </p:sp>
      <p:sp>
        <p:nvSpPr>
          <p:cNvPr id="16" name="Downtime callout"/>
          <p:cNvSpPr/>
          <p:nvPr/>
        </p:nvSpPr>
        <p:spPr>
          <a:xfrm>
            <a:off x="7589520" y="164592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7863840" y="1783080"/>
            <a:ext cx="35661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Days → Hours</a:t>
            </a:r>
            <a:endParaRPr lang="en-US" sz="3600" dirty="0"/>
          </a:p>
          <a:p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</a:rPr>
              <a:t>Downtime when a PC fails (illustrative)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停機時間從「天」縮短到「小時」（示意）</a:t>
            </a:r>
            <a:endParaRPr lang="en-US" sz="3600" dirty="0"/>
          </a:p>
        </p:txBody>
      </p:sp>
      <p:sp>
        <p:nvSpPr>
          <p:cNvPr id="18" name="Key line card"/>
          <p:cNvSpPr/>
          <p:nvPr/>
        </p:nvSpPr>
        <p:spPr>
          <a:xfrm>
            <a:off x="7589520" y="3977640"/>
            <a:ext cx="4023360" cy="2103120"/>
          </a:xfrm>
          <a:prstGeom prst="roundRect">
            <a:avLst>
              <a:gd name="adj" fmla="val 5217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863840" y="4160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20" name="Text 14"/>
          <p:cNvSpPr txBox="1"/>
          <p:nvPr/>
        </p:nvSpPr>
        <p:spPr>
          <a:xfrm>
            <a:off x="7863840" y="4434840"/>
            <a:ext cx="3474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“When a PC breaks, you don't need a faster PC. You need one that gets fixed faster.”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「你需要的不是更快的電腦，是更快被修好的電腦。」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AI is already in your workflow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已經在你的工作流程裡</a:t>
            </a:r>
            <a:endParaRPr lang="en-US" sz="1600" dirty="0"/>
          </a:p>
        </p:txBody>
      </p:sp>
      <p:sp>
        <p:nvSpPr>
          <p:cNvPr id="4" name="Copilot"/>
          <p:cNvSpPr/>
          <p:nvPr/>
        </p:nvSpPr>
        <p:spPr>
          <a:xfrm>
            <a:off x="548640" y="169164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Copilot icon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6" name="Image 0" descr="Copilo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060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Copilot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Summarize documents, draft emails, capture meeting actions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摘要、草擬、整理會議重點</a:t>
            </a:r>
            <a:endParaRPr lang="en-US" sz="1700" dirty="0"/>
          </a:p>
        </p:txBody>
      </p:sp>
      <p:sp>
        <p:nvSpPr>
          <p:cNvPr id="8" name="Click to Do"/>
          <p:cNvSpPr/>
          <p:nvPr/>
        </p:nvSpPr>
        <p:spPr>
          <a:xfrm>
            <a:off x="4297680" y="169164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Click to Do icon"/>
          <p:cNvSpPr/>
          <p:nvPr/>
        </p:nvSpPr>
        <p:spPr>
          <a:xfrm>
            <a:off x="4526280" y="1920240"/>
            <a:ext cx="548640" cy="548640"/>
          </a:xfrm>
          <a:prstGeom prst="ellipse">
            <a:avLst/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pic>
        <p:nvPicPr>
          <p:cNvPr id="10" name="Image 1" descr="Click to Do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574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6060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Click to Do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Select anything on screen to summarize, rewrite or look it up (Copilot+ PC)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框選畫面即可處理</a:t>
            </a:r>
            <a:endParaRPr lang="en-US" sz="1700" dirty="0"/>
          </a:p>
        </p:txBody>
      </p:sp>
      <p:sp>
        <p:nvSpPr>
          <p:cNvPr id="12" name="Agents"/>
          <p:cNvSpPr/>
          <p:nvPr/>
        </p:nvSpPr>
        <p:spPr>
          <a:xfrm>
            <a:off x="8046720" y="1691640"/>
            <a:ext cx="3566160" cy="2743200"/>
          </a:xfrm>
          <a:prstGeom prst="roundRect">
            <a:avLst>
              <a:gd name="adj" fmla="val 3333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Agents icon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4" name="Image 2" descr="Agent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5740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260604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Agents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Hand repetitive processes to AI, grounded in your own data and rules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依公司資料與規則完成流程</a:t>
            </a:r>
            <a:endParaRPr lang="en-US" sz="1700" dirty="0"/>
          </a:p>
        </p:txBody>
      </p:sp>
      <p:sp>
        <p:nvSpPr>
          <p:cNvPr id="16" name="Key line card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2960" y="48463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“AI isn't only in the cloud. It's on your desk, running on your NPU.”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「AI 不只在雲端，它就在你的桌上、在你的 NPU 裡。」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Customer pain → highlight → result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痛點對應亮點與結果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572000"/>
                <a:gridCol w="3200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Customer pain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Windows 11 + Intel highlight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Lost laptop, leaked data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5BD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筆電遺失、資料外洩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BitLocker, Windows Hello, Intune remote wipe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You lose the hardware, not the client data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New hires wait 1–2 days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5BD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新人到職要裝一兩天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Windows Autopilot + Intune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Productive on day one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Waiting days for repairs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5BD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電腦壞了要等人來修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Intel vPro remote management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Downtime from days to hours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No idea who is patched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5BD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不知道每台有沒有更新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Windows Autopatch, Intune compliance reports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Audit-ready reports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Repetitive paperwork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5BD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重複的整理與寫作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Copilot, Click to Do, agents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Hours back every week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Poor video on the road</a:t>
                      </a:r>
                      <a:endParaRPr lang="en-US" sz="13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A5BD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外出視訊品質差、耗電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Studio Effects on the NPU, Core Ultra efficiency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D1B33"/>
                          </a:solidFill>
                        </a:rPr>
                        <a:t>Professional anywhere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a day in one employee's life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Demo：跟著會計小美過一天（10 分鐘）</a:t>
            </a:r>
            <a:endParaRPr lang="en-US" sz="1600" dirty="0"/>
          </a:p>
        </p:txBody>
      </p:sp>
      <p:sp>
        <p:nvSpPr>
          <p:cNvPr id="4" name="Timeline"/>
          <p:cNvSpPr/>
          <p:nvPr/>
        </p:nvSpPr>
        <p:spPr>
          <a:xfrm>
            <a:off x="1005840" y="2331720"/>
            <a:ext cx="10241280" cy="0"/>
          </a:xfrm>
          <a:prstGeom prst="line">
            <a:avLst/>
          </a:prstGeom>
          <a:noFill/>
          <a:ln w="38100">
            <a:solidFill>
              <a:srgbClr val="C9D3E3"/>
            </a:solidFill>
            <a:prstDash val="solid"/>
          </a:ln>
        </p:spPr>
      </p:sp>
      <p:sp>
        <p:nvSpPr>
          <p:cNvPr id="5" name="Onboard dot"/>
          <p:cNvSpPr/>
          <p:nvPr/>
        </p:nvSpPr>
        <p:spPr>
          <a:xfrm>
            <a:off x="1207008" y="2130552"/>
            <a:ext cx="402336" cy="402336"/>
          </a:xfrm>
          <a:prstGeom prst="ellipse">
            <a:avLst/>
          </a:prstGeom>
          <a:solidFill>
            <a:srgbClr val="0A5B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08:30</a:t>
            </a:r>
            <a:endParaRPr lang="en-US" sz="1500" dirty="0"/>
          </a:p>
        </p:txBody>
      </p:sp>
      <p:sp>
        <p:nvSpPr>
          <p:cNvPr id="7" name="Onboard"/>
          <p:cNvSpPr/>
          <p:nvPr/>
        </p:nvSpPr>
        <p:spPr>
          <a:xfrm>
            <a:off x="548640" y="27889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92608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Onboard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Autopilot sets up the PC at sign-in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到職：開箱登入自動設定</a:t>
            </a:r>
            <a:endParaRPr lang="en-US" sz="1500" dirty="0"/>
          </a:p>
        </p:txBody>
      </p:sp>
      <p:sp>
        <p:nvSpPr>
          <p:cNvPr id="9" name="On the road dot"/>
          <p:cNvSpPr/>
          <p:nvPr/>
        </p:nvSpPr>
        <p:spPr>
          <a:xfrm>
            <a:off x="3063240" y="2130552"/>
            <a:ext cx="402336" cy="402336"/>
          </a:xfrm>
          <a:prstGeom prst="ellipse">
            <a:avLst/>
          </a:prstGeom>
          <a:solidFill>
            <a:srgbClr val="0A5B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10:00</a:t>
            </a:r>
            <a:endParaRPr lang="en-US" sz="1500" dirty="0"/>
          </a:p>
        </p:txBody>
      </p:sp>
      <p:sp>
        <p:nvSpPr>
          <p:cNvPr id="11" name="On the road"/>
          <p:cNvSpPr/>
          <p:nvPr/>
        </p:nvSpPr>
        <p:spPr>
          <a:xfrm>
            <a:off x="2404872" y="27889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42032" y="292608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On the road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Face sign-in, encrypted drive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外出：臉部登入、資料加密</a:t>
            </a:r>
            <a:endParaRPr lang="en-US" sz="1500" dirty="0"/>
          </a:p>
        </p:txBody>
      </p:sp>
      <p:sp>
        <p:nvSpPr>
          <p:cNvPr id="13" name="Get work done dot"/>
          <p:cNvSpPr/>
          <p:nvPr/>
        </p:nvSpPr>
        <p:spPr>
          <a:xfrm>
            <a:off x="4919472" y="2130552"/>
            <a:ext cx="402336" cy="402336"/>
          </a:xfrm>
          <a:prstGeom prst="ellipse">
            <a:avLst/>
          </a:prstGeom>
          <a:solidFill>
            <a:srgbClr val="0A5B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61104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14:00</a:t>
            </a:r>
            <a:endParaRPr lang="en-US" sz="1500" dirty="0"/>
          </a:p>
        </p:txBody>
      </p:sp>
      <p:sp>
        <p:nvSpPr>
          <p:cNvPr id="15" name="Get work done"/>
          <p:cNvSpPr/>
          <p:nvPr/>
        </p:nvSpPr>
        <p:spPr>
          <a:xfrm>
            <a:off x="4261104" y="27889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98264" y="292608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Get work done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Copilot, Click to Do, the agent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工作：AI 摘要與提案信</a:t>
            </a:r>
            <a:endParaRPr lang="en-US" sz="1500" dirty="0"/>
          </a:p>
        </p:txBody>
      </p:sp>
      <p:sp>
        <p:nvSpPr>
          <p:cNvPr id="17" name="Meet clients dot"/>
          <p:cNvSpPr/>
          <p:nvPr/>
        </p:nvSpPr>
        <p:spPr>
          <a:xfrm>
            <a:off x="6775704" y="2130552"/>
            <a:ext cx="402336" cy="402336"/>
          </a:xfrm>
          <a:prstGeom prst="ellipse">
            <a:avLst/>
          </a:prstGeom>
          <a:solidFill>
            <a:srgbClr val="0A5B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17336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15:30</a:t>
            </a:r>
            <a:endParaRPr lang="en-US" sz="1500" dirty="0"/>
          </a:p>
        </p:txBody>
      </p:sp>
      <p:sp>
        <p:nvSpPr>
          <p:cNvPr id="19" name="Meet clients"/>
          <p:cNvSpPr/>
          <p:nvPr/>
        </p:nvSpPr>
        <p:spPr>
          <a:xfrm>
            <a:off x="6117336" y="27889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54496" y="292608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Meet clients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Studio Effects on the NPU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開會：視訊效果</a:t>
            </a:r>
            <a:endParaRPr lang="en-US" sz="1500" dirty="0"/>
          </a:p>
        </p:txBody>
      </p:sp>
      <p:sp>
        <p:nvSpPr>
          <p:cNvPr id="21" name="Something breaks dot"/>
          <p:cNvSpPr/>
          <p:nvPr/>
        </p:nvSpPr>
        <p:spPr>
          <a:xfrm>
            <a:off x="8631936" y="2130552"/>
            <a:ext cx="402336" cy="402336"/>
          </a:xfrm>
          <a:prstGeom prst="ellipse">
            <a:avLst/>
          </a:prstGeom>
          <a:solidFill>
            <a:srgbClr val="B45F0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73568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17:00</a:t>
            </a:r>
            <a:endParaRPr lang="en-US" sz="1500" dirty="0"/>
          </a:p>
        </p:txBody>
      </p:sp>
      <p:sp>
        <p:nvSpPr>
          <p:cNvPr id="23" name="Something breaks"/>
          <p:cNvSpPr/>
          <p:nvPr/>
        </p:nvSpPr>
        <p:spPr>
          <a:xfrm>
            <a:off x="7973568" y="27889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110728" y="292608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Something breaks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vPro remote repair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出狀況：遠端修復</a:t>
            </a:r>
            <a:endParaRPr lang="en-US" sz="1500" dirty="0"/>
          </a:p>
        </p:txBody>
      </p:sp>
      <p:sp>
        <p:nvSpPr>
          <p:cNvPr id="25" name="Wrap up dot"/>
          <p:cNvSpPr/>
          <p:nvPr/>
        </p:nvSpPr>
        <p:spPr>
          <a:xfrm>
            <a:off x="10488168" y="2130552"/>
            <a:ext cx="402336" cy="402336"/>
          </a:xfrm>
          <a:prstGeom prst="ellipse">
            <a:avLst/>
          </a:prstGeom>
          <a:solidFill>
            <a:srgbClr val="0A5BD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29800" y="1600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17:30</a:t>
            </a:r>
            <a:endParaRPr lang="en-US" sz="1500" dirty="0"/>
          </a:p>
        </p:txBody>
      </p:sp>
      <p:sp>
        <p:nvSpPr>
          <p:cNvPr id="27" name="Wrap up"/>
          <p:cNvSpPr/>
          <p:nvPr/>
        </p:nvSpPr>
        <p:spPr>
          <a:xfrm>
            <a:off x="9829800" y="2788920"/>
            <a:ext cx="1737360" cy="1874520"/>
          </a:xfrm>
          <a:prstGeom prst="roundRect">
            <a:avLst>
              <a:gd name="adj" fmla="val 4211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66960" y="2926080"/>
            <a:ext cx="1463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Wrap up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Book the refresh assessment</a:t>
            </a:r>
            <a:endParaRPr lang="en-US" sz="15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收尾：約健檢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Before each segment say “Next you'll see…”; after it say “What this means is…”.   每段先說「接下來你會看到」，演完說「這代表」。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One complete refresh offer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一次到位的換機方案：裝置 + 軟體 + 服務</a:t>
            </a:r>
            <a:endParaRPr lang="en-US" sz="1600" dirty="0"/>
          </a:p>
        </p:txBody>
      </p:sp>
      <p:sp>
        <p:nvSpPr>
          <p:cNvPr id="4" name="Devices · by role"/>
          <p:cNvSpPr/>
          <p:nvPr/>
        </p:nvSpPr>
        <p:spPr>
          <a:xfrm>
            <a:off x="548640" y="16459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5" name="Devices · by role icon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0A5BD3"/>
          </a:solidFill>
          <a:ln w="12700">
            <a:solidFill>
              <a:srgbClr val="0A5BD3"/>
            </a:solidFill>
            <a:prstDash val="solid"/>
          </a:ln>
        </p:spPr>
      </p:sp>
      <p:pic>
        <p:nvPicPr>
          <p:cNvPr id="6" name="Image 0" descr="Devices · by rol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6032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Devices · by role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S1 Essential: admin, front desk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S2 Secure (vPro): finance, sales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S3 AI (Copilot+ PC): managers, travelers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依職務分三級，不是每人都買最貴的</a:t>
            </a:r>
            <a:endParaRPr lang="en-US" sz="1700" dirty="0"/>
          </a:p>
        </p:txBody>
      </p:sp>
      <p:sp>
        <p:nvSpPr>
          <p:cNvPr id="8" name="Software"/>
          <p:cNvSpPr/>
          <p:nvPr/>
        </p:nvSpPr>
        <p:spPr>
          <a:xfrm>
            <a:off x="4297680" y="16459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9" name="Software icon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rgbClr val="6B42C4"/>
          </a:solidFill>
          <a:ln w="12700">
            <a:solidFill>
              <a:srgbClr val="6B42C4"/>
            </a:solidFill>
            <a:prstDash val="solid"/>
          </a:ln>
        </p:spPr>
      </p:sp>
      <p:pic>
        <p:nvPicPr>
          <p:cNvPr id="10" name="Image 1" descr="Softwar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116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256032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Software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Windows 11 Pro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Microsoft 365 Business Premium (Intune, advanced security)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軟體授權與管理</a:t>
            </a:r>
            <a:endParaRPr lang="en-US" sz="1700" dirty="0"/>
          </a:p>
        </p:txBody>
      </p:sp>
      <p:sp>
        <p:nvSpPr>
          <p:cNvPr id="12" name="Services"/>
          <p:cNvSpPr/>
          <p:nvPr/>
        </p:nvSpPr>
        <p:spPr>
          <a:xfrm>
            <a:off x="8046720" y="164592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sp>
        <p:nvSpPr>
          <p:cNvPr id="13" name="Services icon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4" name="Image 2" descr="Service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275320" y="2560320"/>
            <a:ext cx="3108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Services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2"/>
                </a:solidFill>
              </a:rPr>
              <a:t>Autopilot deployment · data migration · on-site warranty · installments or leasing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部署、搬移、保固、分期租賃</a:t>
            </a:r>
            <a:endParaRPr lang="en-US" sz="1700" dirty="0"/>
          </a:p>
        </p:txBody>
      </p:sp>
      <p:sp>
        <p:nvSpPr>
          <p:cNvPr id="16" name="Key line card"/>
          <p:cNvSpPr/>
          <p:nvPr/>
        </p:nvSpPr>
        <p:spPr>
          <a:xfrm>
            <a:off x="548640" y="502920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1ECFB"/>
          </a:solidFill>
          <a:ln w="12700">
            <a:solidFill>
              <a:srgbClr val="F1ECFB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822960" y="52120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2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5486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i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don't sell a computer. We deliver a work environment that's ready to go.”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「不是賣一台電腦，是交付一個準備好的工作環境。」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this approach grows partner revenue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為何這樣賣能提升銷售（示範數字）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Higher average price"/>
          <p:cNvSpPr/>
          <p:nvPr/>
        </p:nvSpPr>
        <p:spPr>
          <a:xfrm>
            <a:off x="6035040" y="1691640"/>
            <a:ext cx="640080" cy="64008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6" name="Image 0" descr="Higher average pri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60" y="185166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858000" y="1618488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Higher average price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平均單價提升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Key roles move up to vPro and Copilot+ PC</a:t>
            </a:r>
            <a:endParaRPr lang="en-US" sz="1600" dirty="0"/>
          </a:p>
        </p:txBody>
      </p:sp>
      <p:sp>
        <p:nvSpPr>
          <p:cNvPr id="8" name="Higher attach rate"/>
          <p:cNvSpPr/>
          <p:nvPr/>
        </p:nvSpPr>
        <p:spPr>
          <a:xfrm>
            <a:off x="6035040" y="2715768"/>
            <a:ext cx="640080" cy="64008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9" name="Image 1" descr="Higher attach ra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287578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858000" y="2642616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Higher attach rate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加購率提升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Microsoft 365, deployment, migration, warranty</a:t>
            </a:r>
            <a:endParaRPr lang="en-US" sz="1600" dirty="0"/>
          </a:p>
        </p:txBody>
      </p:sp>
      <p:sp>
        <p:nvSpPr>
          <p:cNvPr id="11" name="Shorter sales cycle"/>
          <p:cNvSpPr/>
          <p:nvPr/>
        </p:nvSpPr>
        <p:spPr>
          <a:xfrm>
            <a:off x="6035040" y="3739896"/>
            <a:ext cx="640080" cy="64008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2" name="Image 2" descr="Shorter sales cyc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060" y="389991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858000" y="3666744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Shorter sales cycle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成交週期縮短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demo lets decision-makers agree in one meeting</a:t>
            </a:r>
            <a:endParaRPr lang="en-US" sz="1600" dirty="0"/>
          </a:p>
        </p:txBody>
      </p:sp>
      <p:sp>
        <p:nvSpPr>
          <p:cNvPr id="14" name="Recurring revenue"/>
          <p:cNvSpPr/>
          <p:nvPr/>
        </p:nvSpPr>
        <p:spPr>
          <a:xfrm>
            <a:off x="6035040" y="4764024"/>
            <a:ext cx="640080" cy="640080"/>
          </a:xfrm>
          <a:prstGeom prst="ellipse">
            <a:avLst/>
          </a:prstGeom>
          <a:solidFill>
            <a:srgbClr val="16764A"/>
          </a:solidFill>
          <a:ln w="12700">
            <a:solidFill>
              <a:srgbClr val="16764A"/>
            </a:solidFill>
            <a:prstDash val="solid"/>
          </a:ln>
        </p:spPr>
      </p:sp>
      <p:pic>
        <p:nvPicPr>
          <p:cNvPr id="15" name="Image 3" descr="Recurring revenu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5060" y="4924044"/>
            <a:ext cx="320040" cy="32004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858000" y="4690872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Recurring revenue  </a:t>
            </a:r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經常性收入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Managed Intune, Autopatch and vPro support as a monthly service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6035040" y="58521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Figures are illustrative for practice. 數字為練習用示範。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97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9144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5"/>
                </a:solidFill>
              </a:rPr>
              <a:t>NEXT STEP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463040"/>
            <a:ext cx="10881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 30-minute refresh assessment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063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下一步：30 分鐘換機健檢</a:t>
            </a:r>
            <a:endParaRPr lang="en-US" sz="2200" dirty="0"/>
          </a:p>
        </p:txBody>
      </p:sp>
      <p:sp>
        <p:nvSpPr>
          <p:cNvPr id="5" name="Step 1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5C9CFF"/>
          </a:solidFill>
          <a:ln w="12700">
            <a:solidFill>
              <a:srgbClr val="5C9C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3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Inventory current PCs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盤點現有電腦</a:t>
            </a:r>
            <a:endParaRPr lang="en-US" sz="1500" dirty="0"/>
          </a:p>
        </p:txBody>
      </p:sp>
      <p:sp>
        <p:nvSpPr>
          <p:cNvPr id="8" name="Step 2"/>
          <p:cNvSpPr/>
          <p:nvPr/>
        </p:nvSpPr>
        <p:spPr>
          <a:xfrm>
            <a:off x="3017520" y="3840480"/>
            <a:ext cx="502920" cy="502920"/>
          </a:xfrm>
          <a:prstGeom prst="ellipse">
            <a:avLst/>
          </a:prstGeom>
          <a:solidFill>
            <a:srgbClr val="5C9CFF"/>
          </a:solidFill>
          <a:ln w="12700">
            <a:solidFill>
              <a:srgbClr val="5C9C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1752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3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Tier devices by role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依職務分級</a:t>
            </a:r>
            <a:endParaRPr lang="en-US" sz="1500" dirty="0"/>
          </a:p>
        </p:txBody>
      </p:sp>
      <p:sp>
        <p:nvSpPr>
          <p:cNvPr id="11" name="Step 3"/>
          <p:cNvSpPr/>
          <p:nvPr/>
        </p:nvSpPr>
        <p:spPr>
          <a:xfrm>
            <a:off x="5394960" y="3840480"/>
            <a:ext cx="502920" cy="502920"/>
          </a:xfrm>
          <a:prstGeom prst="ellipse">
            <a:avLst/>
          </a:prstGeom>
          <a:solidFill>
            <a:srgbClr val="5C9CFF"/>
          </a:solidFill>
          <a:ln w="12700">
            <a:solidFill>
              <a:srgbClr val="5C9C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39496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33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7490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Timeline and budget plan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換機時程與預算</a:t>
            </a:r>
            <a:endParaRPr lang="en-US" sz="1500" dirty="0"/>
          </a:p>
        </p:txBody>
      </p:sp>
      <p:sp>
        <p:nvSpPr>
          <p:cNvPr id="14" name="Key line card"/>
          <p:cNvSpPr/>
          <p:nvPr/>
        </p:nvSpPr>
        <p:spPr>
          <a:xfrm>
            <a:off x="7406640" y="3611880"/>
            <a:ext cx="4206240" cy="2377440"/>
          </a:xfrm>
          <a:prstGeom prst="roundRect">
            <a:avLst>
              <a:gd name="adj" fmla="val 4615"/>
            </a:avLst>
          </a:prstGeom>
          <a:solidFill>
            <a:srgbClr val="24345A"/>
          </a:solidFill>
          <a:ln w="12700">
            <a:solidFill>
              <a:srgbClr val="24345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3A8FF"/>
                </a:solidFill>
              </a:rPr>
              <a:t>KEY LINE  金句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40690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PC refresh isn't a cost. It's trading risk for productivity.”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C9D6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「換機不是成本，是把風險換成生產力。」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 On Sydney">
  <a:themeElements>
    <a:clrScheme name="Power On Sydney">
      <a:dk1>
        <a:srgbClr val="0D1B33"/>
      </a:dk1>
      <a:lt1>
        <a:srgbClr val="FFFFFF"/>
      </a:lt1>
      <a:dk2>
        <a:srgbClr val="3B4A63"/>
      </a:dk2>
      <a:lt2>
        <a:srgbClr val="EEF3FA"/>
      </a:lt2>
      <a:accent1>
        <a:srgbClr val="0A5BD3"/>
      </a:accent1>
      <a:accent2>
        <a:srgbClr val="6B42C4"/>
      </a:accent2>
      <a:accent3>
        <a:srgbClr val="16764A"/>
      </a:accent3>
      <a:accent4>
        <a:srgbClr val="B45F06"/>
      </a:accent4>
      <a:accent5>
        <a:srgbClr val="5C9CFF"/>
      </a:accent5>
      <a:accent6>
        <a:srgbClr val="8A97AD"/>
      </a:accent6>
      <a:hlink>
        <a:srgbClr val="0A5BD3"/>
      </a:hlink>
      <a:folHlink>
        <a:srgbClr val="6B42C4"/>
      </a:folHlink>
    </a:clrScheme>
    <a:fontScheme name="Power On Sydney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Windows 11 Positioning and Demo</dc:title>
  <dc:subject>PptxGenJS Presentation</dc:subject>
  <dc:creator>Weblink · Power On Sydney prep</dc:creator>
  <cp:lastModifiedBy>Weblink · Power On Sydney prep</cp:lastModifiedBy>
  <cp:revision>1</cp:revision>
  <dcterms:created xsi:type="dcterms:W3CDTF">2026-10-26T15:29:00Z</dcterms:created>
  <dcterms:modified xsi:type="dcterms:W3CDTF">2026-10-26T15:29:00Z</dcterms:modified>
</cp:coreProperties>
</file>