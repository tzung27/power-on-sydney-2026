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a49e8a17-bb4b-a465-3244-d4ac8513cb7a}">
          <p14:sldIdLst>
            <p14:sldId id="256"/>
          </p14:sldIdLst>
        </p14:section>
        <p14:section name="Plan" id="{3d6cb4cc-39e4-6657-1261-e1ac808b17ae}">
          <p14:sldIdLst>
            <p14:sldId id="257"/>
            <p14:sldId id="258"/>
            <p14:sldId id="259"/>
            <p14:sldId id="260"/>
            <p14:sldId id="261"/>
          </p14:sldIdLst>
        </p14:section>
        <p14:section name="Close" id="{3863783d-a974-a6ab-1135-249fe3cea32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D1B33"/>
                </a:solidFill>
                <a:latin typeface="+mn-lt"/>
              </a:rPr>
              <a:t>90-day funnel (count)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Funnel</c:v>
                </c:pt>
              </c:strCache>
            </c:strRef>
          </c:tx>
          <c:spPr>
            <a:solidFill>
              <a:srgbClr val="0A5B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D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Leads 名單</c:v>
                  </c:pt>
                  <c:pt idx="1">
                    <c:v>Assessments 健檢</c:v>
                  </c:pt>
                  <c:pt idx="2">
                    <c:v>Proposals 提案</c:v>
                  </c:pt>
                  <c:pt idx="3">
                    <c:v>Deals 成交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</c:v>
                </c:pt>
                <c:pt idx="1">
                  <c:v>90</c:v>
                </c:pt>
                <c:pt idx="2">
                  <c:v>45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D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B4A63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plan. You have three minutes.
中文提示：用一句話開場，全程三分鐘。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segment: sensitive data makes security tangible, no IT makes vPro and services valuable, and associations let us reach them efficiently.
中文提示：為什麼選這個客群：資安最有感、沒有 IT、可透過公會集中接觸。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Business Premium, Autopilot, Intune and advanced security don't work, and peace of mind is just a slogan. It also creates monthly recurring revenue.
中文提示：為什麼一定要包 M365 商務進階版。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assessment step. Everything in month one exists to fill assessments in month two.
中文提示：強調健檢是關鍵一步。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conversion rates out loud so the numbers sound grounded. If day 30 shows 8% instead of 15%, budget moves from email to seminars.
中文提示：把轉換率說出來；第 30 天落後就調整預算。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Prioritize the asks: demo units first because the demo converts best.
中文提示：資源依優先順序說，示範機第一。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line, then thank the group.
中文提示：以金句收尾並感謝小組。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2C4"/>
                </a:solidFill>
              </a:rPr>
              <a:t>Power On: Windows Means Business · Sydney · Oct 27–28,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Power On: Windows Means Business · Sydney · Oct 27–28,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DAY 2 · GROUP WORKSHOP REPORT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90-Day SMB Acceleration Plan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 SMB 加速作戰計畫：安心辦公換機包</a:t>
            </a:r>
            <a:endParaRPr lang="en-US" sz="2200" dirty="0"/>
          </a:p>
        </p:txBody>
      </p:sp>
      <p:sp>
        <p:nvSpPr>
          <p:cNvPr id="5" name="Key line card"/>
          <p:cNvSpPr/>
          <p:nvPr/>
        </p:nvSpPr>
        <p:spPr>
          <a:xfrm>
            <a:off x="640080" y="3931920"/>
            <a:ext cx="6766560" cy="1463040"/>
          </a:xfrm>
          <a:prstGeom prst="roundRect">
            <a:avLst>
              <a:gd name="adj" fmla="val 7500"/>
            </a:avLst>
          </a:prstGeom>
          <a:solidFill>
            <a:srgbClr val="24345A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14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3A8FF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891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90 days, get 18 professional-services firms working with peace of mind.”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「90 天內，讓 18 家專業服務業客戶換上安心辦公。」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we target and why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目標客群與換機觸發點</a:t>
            </a:r>
            <a:endParaRPr lang="en-US" sz="1600" dirty="0"/>
          </a:p>
        </p:txBody>
      </p:sp>
      <p:sp>
        <p:nvSpPr>
          <p:cNvPr id="4" name="Target segment"/>
          <p:cNvSpPr/>
          <p:nvPr/>
        </p:nvSpPr>
        <p:spPr>
          <a:xfrm>
            <a:off x="548640" y="1645920"/>
            <a:ext cx="4206240" cy="4389120"/>
          </a:xfrm>
          <a:prstGeom prst="roundRect">
            <a:avLst>
              <a:gd name="adj" fmla="val 217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arget segment icon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6" name="Image 0" descr="Target segm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3749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Target segment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Professional-services firms in Greater Taipei with 25–100 people: accounting, law, consulting, architecture. Still on Windows 10. No dedicated IT.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雙北 25–100 人專業服務業，仍用 Windows 10，沒有專職 IT</a:t>
            </a:r>
            <a:endParaRPr lang="en-US" sz="1700" dirty="0"/>
          </a:p>
        </p:txBody>
      </p:sp>
      <p:sp>
        <p:nvSpPr>
          <p:cNvPr id="8" name="Client data leaks"/>
          <p:cNvSpPr/>
          <p:nvPr/>
        </p:nvSpPr>
        <p:spPr>
          <a:xfrm>
            <a:off x="5120640" y="1645920"/>
            <a:ext cx="640080" cy="64008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9" name="Image 1" descr="Client data lea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0" y="18059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43600" y="157276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 data leaks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客戶資料外洩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Legal and reputation risk</a:t>
            </a:r>
            <a:endParaRPr lang="en-US" sz="1600" dirty="0"/>
          </a:p>
        </p:txBody>
      </p:sp>
      <p:sp>
        <p:nvSpPr>
          <p:cNvPr id="11" name="Waiting days for IT"/>
          <p:cNvSpPr/>
          <p:nvPr/>
        </p:nvSpPr>
        <p:spPr>
          <a:xfrm>
            <a:off x="5120640" y="2670048"/>
            <a:ext cx="640080" cy="64008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2" name="Image 2" descr="Waiting days for 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8300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2596896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Waiting days for IT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等外包人員修電腦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Outsourced support is slow</a:t>
            </a:r>
            <a:endParaRPr lang="en-US" sz="1600" dirty="0"/>
          </a:p>
        </p:txBody>
      </p:sp>
      <p:sp>
        <p:nvSpPr>
          <p:cNvPr id="14" name="Hours on paperwork"/>
          <p:cNvSpPr/>
          <p:nvPr/>
        </p:nvSpPr>
        <p:spPr>
          <a:xfrm>
            <a:off x="5120640" y="3694176"/>
            <a:ext cx="640080" cy="64008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5" name="Image 3" descr="Hours on paperwo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660" y="385419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943600" y="3621024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Hours on paperwork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文件整理耗時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Documents and letters by hand</a:t>
            </a:r>
            <a:endParaRPr lang="en-US" sz="1600" dirty="0"/>
          </a:p>
        </p:txBody>
      </p:sp>
      <p:sp>
        <p:nvSpPr>
          <p:cNvPr id="17" name="Triggers"/>
          <p:cNvSpPr/>
          <p:nvPr/>
        </p:nvSpPr>
        <p:spPr>
          <a:xfrm>
            <a:off x="5120640" y="4846320"/>
            <a:ext cx="6492240" cy="1188720"/>
          </a:xfrm>
          <a:prstGeom prst="roundRect">
            <a:avLst>
              <a:gd name="adj" fmla="val 7692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349240" y="48920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Triggers: tax season (May), client audits, a lost or infected laptop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換機觸發點：5 月報稅季前、客戶或主管機關稽核、發生遺失或中毒事件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offer: Peace of Mind Refresh Bundle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主打方案：安心辦公換機包</a:t>
            </a:r>
            <a:endParaRPr lang="en-US" sz="1600" dirty="0"/>
          </a:p>
        </p:txBody>
      </p:sp>
      <p:sp>
        <p:nvSpPr>
          <p:cNvPr id="4" name="Devices"/>
          <p:cNvSpPr/>
          <p:nvPr/>
        </p:nvSpPr>
        <p:spPr>
          <a:xfrm>
            <a:off x="548640" y="16916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Devices icon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6" name="Image 0" descr="Devic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Devices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Intel vPro Windows 11 Pro laptops; Copilot+ PCs for managers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裝置</a:t>
            </a:r>
            <a:endParaRPr lang="en-US" sz="1700" dirty="0"/>
          </a:p>
        </p:txBody>
      </p:sp>
      <p:sp>
        <p:nvSpPr>
          <p:cNvPr id="8" name="Software"/>
          <p:cNvSpPr/>
          <p:nvPr/>
        </p:nvSpPr>
        <p:spPr>
          <a:xfrm>
            <a:off x="3364992" y="16916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Software icon"/>
          <p:cNvSpPr/>
          <p:nvPr/>
        </p:nvSpPr>
        <p:spPr>
          <a:xfrm>
            <a:off x="3593592" y="1920240"/>
            <a:ext cx="548640" cy="548640"/>
          </a:xfrm>
          <a:prstGeom prst="ellipse">
            <a:avLst/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pic>
        <p:nvPicPr>
          <p:cNvPr id="10" name="Image 1" descr="Softwa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57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26060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Software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Microsoft 365 Business Premium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</a:t>
            </a:r>
            <a:endParaRPr lang="en-US" sz="1700" dirty="0"/>
          </a:p>
        </p:txBody>
      </p:sp>
      <p:sp>
        <p:nvSpPr>
          <p:cNvPr id="12" name="Services"/>
          <p:cNvSpPr/>
          <p:nvPr/>
        </p:nvSpPr>
        <p:spPr>
          <a:xfrm>
            <a:off x="6181344" y="16916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Services icon"/>
          <p:cNvSpPr/>
          <p:nvPr/>
        </p:nvSpPr>
        <p:spPr>
          <a:xfrm>
            <a:off x="6409944" y="1920240"/>
            <a:ext cx="548640" cy="54864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4" name="Image 2" descr="Servic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057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9944" y="26060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Services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Autopilot deployment, data migration, 3-year on-site warranty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</a:t>
            </a:r>
            <a:endParaRPr lang="en-US" sz="1700" dirty="0"/>
          </a:p>
        </p:txBody>
      </p:sp>
      <p:sp>
        <p:nvSpPr>
          <p:cNvPr id="16" name="Financing"/>
          <p:cNvSpPr/>
          <p:nvPr/>
        </p:nvSpPr>
        <p:spPr>
          <a:xfrm>
            <a:off x="8997696" y="16916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Financing icon"/>
          <p:cNvSpPr/>
          <p:nvPr/>
        </p:nvSpPr>
        <p:spPr>
          <a:xfrm>
            <a:off x="9226296" y="1920240"/>
            <a:ext cx="548640" cy="54864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8" name="Image 3" descr="Financ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20574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26296" y="260604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Financing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36-month installments or leasing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分期與租賃</a:t>
            </a:r>
            <a:endParaRPr lang="en-US" sz="1700" dirty="0"/>
          </a:p>
        </p:txBody>
      </p:sp>
      <p:sp>
        <p:nvSpPr>
          <p:cNvPr id="20" name="Key line card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5120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“SMB owners don't buy specs. They buy peace of mind.”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「SMB 老闆不買規格，買的是「不用煩惱」。」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90-day rhythm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天活動節奏：名單 → 會議 → 成交</a:t>
            </a:r>
            <a:endParaRPr lang="en-US" sz="1600" dirty="0"/>
          </a:p>
        </p:txBody>
      </p:sp>
      <p:sp>
        <p:nvSpPr>
          <p:cNvPr id="4" name="Days 1–30"/>
          <p:cNvSpPr/>
          <p:nvPr/>
        </p:nvSpPr>
        <p:spPr>
          <a:xfrm>
            <a:off x="548640" y="164592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Days 1–30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Leads</a:t>
            </a:r>
            <a:endParaRPr lang="en-US" sz="1400" dirty="0"/>
          </a:p>
        </p:txBody>
      </p:sp>
      <p:sp>
        <p:nvSpPr>
          <p:cNvPr id="6" name="Leads detail"/>
          <p:cNvSpPr/>
          <p:nvPr/>
        </p:nvSpPr>
        <p:spPr>
          <a:xfrm>
            <a:off x="548640" y="24688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Train 10 core resellers (pitch + agent). Co-branded email: “Windows 10 support has ended. Is your client data safe?”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建立名單：經銷商訓練、共同品牌 EDM</a:t>
            </a:r>
            <a:endParaRPr lang="en-US" sz="1400" dirty="0"/>
          </a:p>
        </p:txBody>
      </p:sp>
      <p:sp>
        <p:nvSpPr>
          <p:cNvPr id="8" name="Days 31–60"/>
          <p:cNvSpPr/>
          <p:nvPr/>
        </p:nvSpPr>
        <p:spPr>
          <a:xfrm>
            <a:off x="4297680" y="164592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Days 31–60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Meetings</a:t>
            </a:r>
            <a:endParaRPr lang="en-US" sz="1400" dirty="0"/>
          </a:p>
        </p:txBody>
      </p:sp>
      <p:sp>
        <p:nvSpPr>
          <p:cNvPr id="10" name="Meetings detail"/>
          <p:cNvSpPr/>
          <p:nvPr/>
        </p:nvSpPr>
        <p:spPr>
          <a:xfrm>
            <a:off x="4297680" y="24688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60604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Resellers run 30-minute refresh assessments with our demo units. Two security seminars with the accountants' association.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轉成會議：換機健檢、公會資安講座</a:t>
            </a:r>
            <a:endParaRPr lang="en-US" sz="1400" dirty="0"/>
          </a:p>
        </p:txBody>
      </p:sp>
      <p:sp>
        <p:nvSpPr>
          <p:cNvPr id="12" name="Days 61–90"/>
          <p:cNvSpPr/>
          <p:nvPr/>
        </p:nvSpPr>
        <p:spPr>
          <a:xfrm>
            <a:off x="8046720" y="164592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Days 61–90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Deals</a:t>
            </a:r>
            <a:endParaRPr lang="en-US" sz="1400" dirty="0"/>
          </a:p>
        </p:txBody>
      </p:sp>
      <p:sp>
        <p:nvSpPr>
          <p:cNvPr id="14" name="Deals detail"/>
          <p:cNvSpPr/>
          <p:nvPr/>
        </p:nvSpPr>
        <p:spPr>
          <a:xfrm>
            <a:off x="8046720" y="24688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60604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Proposal within a week of each assessment. Quarter-end promotion and financing. Record one customer story.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轉成訂單：一週內提案、季末促銷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assessment is the key step: it is where the demo happens.   健檢是關鍵一步，Demo 在這裡發生。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KPI funnel: 600 leads → 18 customers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漏斗與轉換率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15%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lead → assessment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651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50%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assessment → proposal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40%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proposal → deal</a:t>
            </a:r>
            <a:endParaRPr lang="en-US" sz="3000" dirty="0"/>
          </a:p>
        </p:txBody>
      </p:sp>
      <p:sp>
        <p:nvSpPr>
          <p:cNvPr id="8" name="Devices callout"/>
          <p:cNvSpPr/>
          <p:nvPr/>
        </p:nvSpPr>
        <p:spPr>
          <a:xfrm>
            <a:off x="7680960" y="475488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48006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≈ 540 devices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</a:rPr>
              <a:t>18 customers × 30 PCs · review every 30 days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540 台，每 30 天檢核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need, and the risks we'll manage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需要的資源與風險對策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OUR ASKS  資源需求</a:t>
            </a:r>
            <a:endParaRPr lang="en-US" sz="1300" dirty="0"/>
          </a:p>
        </p:txBody>
      </p:sp>
      <p:sp>
        <p:nvSpPr>
          <p:cNvPr id="5" name="Ask 1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2996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Demo units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示範機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Our highest-converting step</a:t>
            </a:r>
            <a:endParaRPr lang="en-US" sz="1700" dirty="0"/>
          </a:p>
        </p:txBody>
      </p:sp>
      <p:sp>
        <p:nvSpPr>
          <p:cNvPr id="8" name="Ask 2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1868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Traditional Chinese content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繁體中文素材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Ready-to-use for resellers</a:t>
            </a:r>
            <a:endParaRPr lang="en-US" sz="1700" dirty="0"/>
          </a:p>
        </p:txBody>
      </p:sp>
      <p:sp>
        <p:nvSpPr>
          <p:cNvPr id="11" name="Ask 3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40740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Co-marketing funds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聯合行銷基金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 the association seminars</a:t>
            </a:r>
            <a:endParaRPr lang="en-US" sz="1700" dirty="0"/>
          </a:p>
        </p:txBody>
      </p:sp>
      <p:sp>
        <p:nvSpPr>
          <p:cNvPr id="14" name="Risk: resellers are new to Intune and Autopilot"/>
          <p:cNvSpPr/>
          <p:nvPr/>
        </p:nvSpPr>
        <p:spPr>
          <a:xfrm>
            <a:off x="6217920" y="164592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Risk: resellers are new to Intune and Autopilot icon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6" name="Image 0" descr="Risk: resellers are new to Intune and Autopil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01168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46520" y="2560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Risk: resellers are new to Intune and Autopilot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Mitigation: we deliver deployment as a service; resellers just sell.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對策：部署服務由代理商代工</a:t>
            </a:r>
            <a:endParaRPr lang="en-US" sz="1700" dirty="0"/>
          </a:p>
        </p:txBody>
      </p:sp>
      <p:sp>
        <p:nvSpPr>
          <p:cNvPr id="18" name="Risk: customers lack budget"/>
          <p:cNvSpPr/>
          <p:nvPr/>
        </p:nvSpPr>
        <p:spPr>
          <a:xfrm>
            <a:off x="6217920" y="388620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Risk: customers lack budget icon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20" name="Image 1" descr="Risk: customers lack budg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25196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46520" y="4800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Risk: customers lack budget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Mitigation: phase the refresh and offer leasing.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對策：分批換機與租賃方案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OUR COMMITMENT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18 customers · 540 devices · 90 days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家客戶 · 約 540 台 · 90 天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distributor's job is to help every reseller sell like the vendor itself.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代理商的工作，是讓每一家經銷商都賣得像原廠。</a:t>
            </a:r>
            <a:endParaRPr lang="en-US" sz="1600" dirty="0"/>
          </a:p>
        </p:txBody>
      </p:sp>
      <p:sp>
        <p:nvSpPr>
          <p:cNvPr id="6" name="Key line card"/>
          <p:cNvSpPr/>
          <p:nvPr/>
        </p:nvSpPr>
        <p:spPr>
          <a:xfrm>
            <a:off x="7406640" y="361188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24345A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3A8FF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0690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“We're not selling computers. We're helping customers shut down their risk before tax season.”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「我們不是在賣電腦，是在幫客戶在報稅季前把風險關掉。」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 On Sydney">
  <a:themeElements>
    <a:clrScheme name="Power On Sydney">
      <a:dk1>
        <a:srgbClr val="0D1B33"/>
      </a:dk1>
      <a:lt1>
        <a:srgbClr val="FFFFFF"/>
      </a:lt1>
      <a:dk2>
        <a:srgbClr val="3B4A63"/>
      </a:dk2>
      <a:lt2>
        <a:srgbClr val="EEF3FA"/>
      </a:lt2>
      <a:accent1>
        <a:srgbClr val="0A5BD3"/>
      </a:accent1>
      <a:accent2>
        <a:srgbClr val="6B42C4"/>
      </a:accent2>
      <a:accent3>
        <a:srgbClr val="16764A"/>
      </a:accent3>
      <a:accent4>
        <a:srgbClr val="B45F06"/>
      </a:accent4>
      <a:accent5>
        <a:srgbClr val="5C9CFF"/>
      </a:accent5>
      <a:accent6>
        <a:srgbClr val="8A97AD"/>
      </a:accent6>
      <a:hlink>
        <a:srgbClr val="0A5BD3"/>
      </a:hlink>
      <a:folHlink>
        <a:srgbClr val="6B42C4"/>
      </a:folHlink>
    </a:clrScheme>
    <a:fontScheme name="Power On Sydney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90-Day SMB Acceleration Plan</dc:title>
  <dc:subject>PptxGenJS Presentation</dc:subject>
  <dc:creator>Weblink · Power On Sydney prep</dc:creator>
  <cp:lastModifiedBy>Weblink · Power On Sydney prep</cp:lastModifiedBy>
  <cp:revision>1</cp:revision>
  <dcterms:created xsi:type="dcterms:W3CDTF">2026-10-26T15:29:00Z</dcterms:created>
  <dcterms:modified xsi:type="dcterms:W3CDTF">2026-10-26T15:29:00Z</dcterms:modified>
</cp:coreProperties>
</file>